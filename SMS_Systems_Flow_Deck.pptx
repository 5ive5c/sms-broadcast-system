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Screen-by-screen walkthrough of the proof of concept. One screen per slide, one line on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system on one slide. Four groups, twenty-four screens, in the order we will walk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one: getting a client into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email and password sign-in.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admin. Every tenant, its sender ID, tier, balance and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Creating a tenant: company details, sender ID, pricing tier, first admin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Sender IDs registered per client and approved through 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 are issued, rotated and revoked by the client admin. Secret shown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admins create their own staff accounts and decide what each role can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admins create staff accounts directly — no invitation email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two: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admin sets the tiers. Configuration,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side. Tier and total resolve as they type the credit amount.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admin approves and the wallet is credited, with the approver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wallet: balance, burn rate and the full ledger of credits and debits.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approved top-up produces an invoice the client can download for their finance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three: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landing screen: today's volume, delivery rate, balance, anything needing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message, paste a handful of numbers, send. No CSV, no campaign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campaign with its state and delivery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Saved message templates with placeholders. Written once, reused every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 the message, pick the sender ID, see part count and cost as you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 on the compose screen follows these rules. Unicode is the one that surprises people: one emoji drops the limit to 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the list; invalid and duplicate rows are rejected with a downloadable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 the Excel or text file and map each column to a placeholder. Rows with missing values are flagged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check before launch: cost, balance after, lane,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progress while a campaign dispatches, with pause and cancel.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operations view: lane depth, wait time, worker health, dispatch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four: status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Searchable record of every message and its current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Recipient-level report. Search by date range, campaign, status, type or number, then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 end to end: attempts, timings, iSMS responses, credit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the failures, select, resend as a new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usage and cost by message type, exportable for chargeback.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only. Our records against the iSMS report, with the discrepancies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did what, when. Covers approvals, key rotation, role changes and campaign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in the proof of concept and what deliberately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12776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6F5CD8"/>
          </a:solidFill>
          <a:ln/>
        </p:spPr>
      </p:sp>
      <p:sp>
        <p:nvSpPr>
          <p:cNvPr id="3" name="Text 1"/>
          <p:cNvSpPr/>
          <p:nvPr/>
        </p:nvSpPr>
        <p:spPr>
          <a:xfrm>
            <a:off x="1314450" y="1047750"/>
            <a:ext cx="39396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29" kern="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WALKTHROUGH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941683"/>
            <a:ext cx="14668500" cy="10872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39"/>
              </a:lnSpc>
              <a:buNone/>
            </a:pPr>
            <a:r>
              <a:rPr lang="en-US" sz="8100" b="1" spc="-16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 System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52500" y="5276612"/>
            <a:ext cx="14668500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6"/>
              </a:lnSpc>
              <a:buNone/>
            </a:pPr>
            <a:r>
              <a:rPr lang="en-US" sz="3300" dirty="0">
                <a:solidFill>
                  <a:srgbClr val="C5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in the system, from client registration to reconciliation.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" y="8385810"/>
            <a:ext cx="16383000" cy="9525"/>
          </a:xfrm>
          <a:prstGeom prst="rect">
            <a:avLst/>
          </a:prstGeom>
          <a:solidFill>
            <a:srgbClr val="34456A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8717280"/>
            <a:ext cx="82724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9121140"/>
            <a:ext cx="82724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70296" y="8717280"/>
            <a:ext cx="43155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0296" y="9121140"/>
            <a:ext cx="431555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portal and internal admin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960275" y="8717280"/>
            <a:ext cx="90213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EA1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60275" y="9121140"/>
            <a:ext cx="90213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03960"/>
            <a:ext cx="1802130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in the SMS Systems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17420"/>
            <a:ext cx="3910013" cy="74980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9707880"/>
            <a:ext cx="3910013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217420"/>
            <a:ext cx="3910013" cy="5334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8" name="Shape 6"/>
          <p:cNvSpPr/>
          <p:nvPr/>
        </p:nvSpPr>
        <p:spPr>
          <a:xfrm>
            <a:off x="4854893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9" name="Text 7"/>
          <p:cNvSpPr/>
          <p:nvPr/>
        </p:nvSpPr>
        <p:spPr>
          <a:xfrm>
            <a:off x="1207770" y="2499360"/>
            <a:ext cx="3501457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ONBOARDING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770" y="312229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Login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207770" y="356997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Client list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07770" y="401764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Register new client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207770" y="446532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Sender ID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07770" y="491299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API keys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07770" y="536067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Staff and roles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207770" y="580834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Add user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110163" y="2217420"/>
            <a:ext cx="3910013" cy="74980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10163" y="9707880"/>
            <a:ext cx="3910013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110163" y="2217420"/>
            <a:ext cx="3910013" cy="5334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110163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2555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2" name="Text 20"/>
          <p:cNvSpPr/>
          <p:nvPr/>
        </p:nvSpPr>
        <p:spPr>
          <a:xfrm>
            <a:off x="5365432" y="2499360"/>
            <a:ext cx="37394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AND BILLING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65432" y="28632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Pricing tiers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5365432" y="33108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Request top-up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5365432" y="375856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Top-up approval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5365432" y="420624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Wallet and ledger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5365432" y="46539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Invoices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267825" y="2217420"/>
            <a:ext cx="3910013" cy="74980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267825" y="9707880"/>
            <a:ext cx="3910013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0" name="Shape 28"/>
          <p:cNvSpPr/>
          <p:nvPr/>
        </p:nvSpPr>
        <p:spPr>
          <a:xfrm>
            <a:off x="9267825" y="2217420"/>
            <a:ext cx="3910013" cy="5334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31" name="Shape 29"/>
          <p:cNvSpPr/>
          <p:nvPr/>
        </p:nvSpPr>
        <p:spPr>
          <a:xfrm>
            <a:off x="9267825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70218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3" name="Text 31"/>
          <p:cNvSpPr/>
          <p:nvPr/>
        </p:nvSpPr>
        <p:spPr>
          <a:xfrm>
            <a:off x="9523095" y="2499360"/>
            <a:ext cx="37394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23095" y="28632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Client dashboard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523095" y="33108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Quick send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9523095" y="375856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Campaign list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9523095" y="420624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Message templates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9523095" y="46539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Compose campaign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9523095" y="51015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Recipient upload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9523095" y="554926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Merge mapping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9523095" y="599694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Confirm and launch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9523095" y="64446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Campaign progress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9523095" y="68922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Queue monitor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3425488" y="2217420"/>
            <a:ext cx="3910013" cy="7498080"/>
          </a:xfrm>
          <a:prstGeom prst="roundRect">
            <a:avLst>
              <a:gd name="adj" fmla="val 3410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3425488" y="9707880"/>
            <a:ext cx="3910013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6" name="Shape 44"/>
          <p:cNvSpPr/>
          <p:nvPr/>
        </p:nvSpPr>
        <p:spPr>
          <a:xfrm>
            <a:off x="13425488" y="2217420"/>
            <a:ext cx="3910013" cy="533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3425488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8" name="Shape 46"/>
          <p:cNvSpPr/>
          <p:nvPr/>
        </p:nvSpPr>
        <p:spPr>
          <a:xfrm>
            <a:off x="17327880" y="2217420"/>
            <a:ext cx="9525" cy="749808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9" name="Text 47"/>
          <p:cNvSpPr/>
          <p:nvPr/>
        </p:nvSpPr>
        <p:spPr>
          <a:xfrm>
            <a:off x="13680758" y="2499360"/>
            <a:ext cx="373942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REPORTING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3680758" y="28632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Message log</a:t>
            </a:r>
            <a:endParaRPr lang="en-US" sz="1875" dirty="0"/>
          </a:p>
        </p:txBody>
      </p:sp>
      <p:sp>
        <p:nvSpPr>
          <p:cNvPr id="51" name="Text 49"/>
          <p:cNvSpPr/>
          <p:nvPr/>
        </p:nvSpPr>
        <p:spPr>
          <a:xfrm>
            <a:off x="13680758" y="33108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Delivery report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13680758" y="375856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Message detail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13680758" y="420624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Failed and resend</a:t>
            </a:r>
            <a:endParaRPr lang="en-US" sz="1875" dirty="0"/>
          </a:p>
        </p:txBody>
      </p:sp>
      <p:sp>
        <p:nvSpPr>
          <p:cNvPr id="54" name="Text 52"/>
          <p:cNvSpPr/>
          <p:nvPr/>
        </p:nvSpPr>
        <p:spPr>
          <a:xfrm>
            <a:off x="13680758" y="465391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Usage and cost</a:t>
            </a:r>
            <a:endParaRPr lang="en-US" sz="1875" dirty="0"/>
          </a:p>
        </p:txBody>
      </p:sp>
      <p:sp>
        <p:nvSpPr>
          <p:cNvPr id="55" name="Text 53"/>
          <p:cNvSpPr/>
          <p:nvPr/>
        </p:nvSpPr>
        <p:spPr>
          <a:xfrm>
            <a:off x="13680758" y="5101590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Reconciliation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13680758" y="5549265"/>
            <a:ext cx="3739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Audit log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5379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504444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and Onboarding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616839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9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01–07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12633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sign-in with email and password for client staff and internal admins.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portal.smsbroadcast.my/login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1674876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707380" y="3446145"/>
            <a:ext cx="6873240" cy="5535930"/>
          </a:xfrm>
          <a:prstGeom prst="roundRect">
            <a:avLst>
              <a:gd name="adj" fmla="val 240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3834765"/>
            <a:ext cx="67056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096000" y="4410075"/>
            <a:ext cx="6705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 portal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6000" y="4947285"/>
            <a:ext cx="67056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6096000" y="5335905"/>
            <a:ext cx="6096000" cy="624840"/>
          </a:xfrm>
          <a:prstGeom prst="roundRect">
            <a:avLst>
              <a:gd name="adj" fmla="val 1219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5070" y="5476875"/>
            <a:ext cx="59207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siti.rahman@maybank.com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096000" y="6170295"/>
            <a:ext cx="670560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6096000" y="6558915"/>
            <a:ext cx="6096000" cy="624840"/>
          </a:xfrm>
          <a:prstGeom prst="roundRect">
            <a:avLst>
              <a:gd name="adj" fmla="val 1219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5070" y="6699885"/>
            <a:ext cx="59207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••••••••••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096000" y="7419975"/>
            <a:ext cx="259080" cy="259080"/>
          </a:xfrm>
          <a:prstGeom prst="roundRect">
            <a:avLst>
              <a:gd name="adj" fmla="val 18382"/>
            </a:avLst>
          </a:prstGeom>
          <a:ln w="15240">
            <a:solidFill>
              <a:srgbClr val="C8D0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9380" y="7393305"/>
            <a:ext cx="1419225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0577394" y="7393305"/>
            <a:ext cx="177606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password?</a:t>
            </a:r>
            <a:endParaRPr lang="en-US" sz="1725" dirty="0"/>
          </a:p>
        </p:txBody>
      </p:sp>
      <p:sp>
        <p:nvSpPr>
          <p:cNvPr id="26" name="Shape 24"/>
          <p:cNvSpPr/>
          <p:nvPr/>
        </p:nvSpPr>
        <p:spPr>
          <a:xfrm>
            <a:off x="6096000" y="7915275"/>
            <a:ext cx="6096000" cy="678180"/>
          </a:xfrm>
          <a:prstGeom prst="roundRect">
            <a:avLst>
              <a:gd name="adj" fmla="val 11236"/>
            </a:avLst>
          </a:prstGeom>
          <a:solidFill>
            <a:srgbClr val="1C2B4A"/>
          </a:solidFill>
          <a:ln/>
        </p:spPr>
      </p:sp>
      <p:sp>
        <p:nvSpPr>
          <p:cNvPr id="27" name="Text 25"/>
          <p:cNvSpPr/>
          <p:nvPr/>
        </p:nvSpPr>
        <p:spPr>
          <a:xfrm>
            <a:off x="6156960" y="8067675"/>
            <a:ext cx="5974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33229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List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admin view of every tenant on the platform, with balance and account status at a glance.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portal.smsbroadcast.my/admin/clients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2020" y="3501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3025140"/>
            <a:ext cx="10078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618614" y="2929890"/>
            <a:ext cx="1049417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6734" y="3032760"/>
            <a:ext cx="7293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782330" y="2929890"/>
            <a:ext cx="1450300" cy="533400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/>
        </p:spPr>
      </p:sp>
      <p:sp>
        <p:nvSpPr>
          <p:cNvPr id="28" name="Text 26"/>
          <p:cNvSpPr/>
          <p:nvPr/>
        </p:nvSpPr>
        <p:spPr>
          <a:xfrm>
            <a:off x="15991880" y="3025140"/>
            <a:ext cx="1107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+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320540" y="3653790"/>
            <a:ext cx="12912090" cy="31851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8160" y="366141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37710" y="3813810"/>
            <a:ext cx="318316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8035052" y="3813810"/>
            <a:ext cx="18430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10221040" y="3813810"/>
            <a:ext cx="162437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2188310" y="3813810"/>
            <a:ext cx="16244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4155698" y="3813810"/>
            <a:ext cx="140577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5904369" y="3813810"/>
            <a:ext cx="118717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4328160" y="491109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4537710" y="4431030"/>
            <a:ext cx="31831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035052" y="4442460"/>
            <a:ext cx="18430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MBB-OTP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221040" y="4431030"/>
            <a:ext cx="16243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188310" y="4431030"/>
            <a:ext cx="16244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482,310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4155698" y="443674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3" name="Text 41"/>
          <p:cNvSpPr/>
          <p:nvPr/>
        </p:nvSpPr>
        <p:spPr>
          <a:xfrm>
            <a:off x="14269998" y="448437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904369" y="4431030"/>
            <a:ext cx="118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328160" y="555117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6" name="Text 44"/>
          <p:cNvSpPr/>
          <p:nvPr/>
        </p:nvSpPr>
        <p:spPr>
          <a:xfrm>
            <a:off x="4537710" y="5071110"/>
            <a:ext cx="31831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Koperasi Sejahtera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035052" y="5082540"/>
            <a:ext cx="18430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KOPSJ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221040" y="5071110"/>
            <a:ext cx="16243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RM0.12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188310" y="5071110"/>
            <a:ext cx="16244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6,940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155698" y="507682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51" name="Text 49"/>
          <p:cNvSpPr/>
          <p:nvPr/>
        </p:nvSpPr>
        <p:spPr>
          <a:xfrm>
            <a:off x="14269998" y="512445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5904369" y="5071110"/>
            <a:ext cx="118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328160" y="61912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4" name="Text 52"/>
          <p:cNvSpPr/>
          <p:nvPr/>
        </p:nvSpPr>
        <p:spPr>
          <a:xfrm>
            <a:off x="4537710" y="5711190"/>
            <a:ext cx="31831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Prima Group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035052" y="5722620"/>
            <a:ext cx="18430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221040" y="5711190"/>
            <a:ext cx="16243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RM0.12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188310" y="5711190"/>
            <a:ext cx="16244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4155698" y="5716905"/>
            <a:ext cx="962739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59" name="Text 57"/>
          <p:cNvSpPr/>
          <p:nvPr/>
        </p:nvSpPr>
        <p:spPr>
          <a:xfrm>
            <a:off x="14269998" y="5764530"/>
            <a:ext cx="8103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15904369" y="5711190"/>
            <a:ext cx="118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4328160" y="6198870"/>
            <a:ext cx="12896850" cy="6324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62" name="Text 60"/>
          <p:cNvSpPr/>
          <p:nvPr/>
        </p:nvSpPr>
        <p:spPr>
          <a:xfrm>
            <a:off x="4537710" y="6351270"/>
            <a:ext cx="318316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Logistics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8035052" y="6362700"/>
            <a:ext cx="18430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ZAMAN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221040" y="6351270"/>
            <a:ext cx="16243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RM0.12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2188310" y="6351270"/>
            <a:ext cx="16244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1,120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4155698" y="6356985"/>
            <a:ext cx="1240750" cy="323850"/>
          </a:xfrm>
          <a:prstGeom prst="roundRect">
            <a:avLst>
              <a:gd name="adj" fmla="val 17647"/>
            </a:avLst>
          </a:prstGeom>
          <a:solidFill>
            <a:srgbClr val="E4E7EE"/>
          </a:solidFill>
          <a:ln/>
        </p:spPr>
      </p:sp>
      <p:sp>
        <p:nvSpPr>
          <p:cNvPr id="67" name="Text 65"/>
          <p:cNvSpPr/>
          <p:nvPr/>
        </p:nvSpPr>
        <p:spPr>
          <a:xfrm>
            <a:off x="14269998" y="6404610"/>
            <a:ext cx="1088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</a:t>
            </a:r>
            <a:endParaRPr lang="en-US" sz="1575" dirty="0"/>
          </a:p>
        </p:txBody>
      </p:sp>
      <p:sp>
        <p:nvSpPr>
          <p:cNvPr id="68" name="Text 66"/>
          <p:cNvSpPr/>
          <p:nvPr/>
        </p:nvSpPr>
        <p:spPr>
          <a:xfrm>
            <a:off x="15904369" y="6351270"/>
            <a:ext cx="118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4320540" y="7029450"/>
            <a:ext cx="142032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 to 4 of 4 entries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71094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New Client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tenant, its sender ID, its pricing tier and its first admin user in one form.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portal.smsbroadcast.my/admin/clients/new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2020" y="3501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2929890"/>
            <a:ext cx="142032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320540" y="3425190"/>
            <a:ext cx="12912090" cy="4225290"/>
          </a:xfrm>
          <a:prstGeom prst="roundRect">
            <a:avLst>
              <a:gd name="adj" fmla="val 270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5810" y="3642360"/>
            <a:ext cx="136417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5810" y="405384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name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575810" y="440817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6780" y="451104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Prima Group Sdn Bhd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66810" y="405384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no.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766810" y="4408170"/>
            <a:ext cx="4019550" cy="510540"/>
          </a:xfrm>
          <a:prstGeom prst="roundRect">
            <a:avLst>
              <a:gd name="adj" fmla="val 1492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07780" y="4511040"/>
            <a:ext cx="3858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201801023456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957810" y="405384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957810" y="440817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98780" y="451104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5810" y="5093970"/>
            <a:ext cx="136417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and access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5810" y="550545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4575810" y="5859780"/>
            <a:ext cx="4019550" cy="510540"/>
          </a:xfrm>
          <a:prstGeom prst="roundRect">
            <a:avLst>
              <a:gd name="adj" fmla="val 1492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6780" y="5962650"/>
            <a:ext cx="3858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766810" y="550545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8766810" y="585978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07780" y="596265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credits — RM0.12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957810" y="550545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types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2957810" y="585978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098780" y="596265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transactional, bulk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5810" y="654558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admin — name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4575810" y="689991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6780" y="700278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Amira Yusof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766810" y="654558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admin — email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8766810" y="689991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07780" y="700278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amira@klinikprima.my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957810" y="654558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2957810" y="689991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098780" y="700278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320540" y="7802880"/>
            <a:ext cx="1821418" cy="605790"/>
          </a:xfrm>
          <a:prstGeom prst="roundRect">
            <a:avLst>
              <a:gd name="adj" fmla="val 12579"/>
            </a:avLst>
          </a:prstGeom>
          <a:solidFill>
            <a:srgbClr val="1C2B4A"/>
          </a:solidFill>
          <a:ln/>
        </p:spPr>
      </p:sp>
      <p:sp>
        <p:nvSpPr>
          <p:cNvPr id="56" name="Text 54"/>
          <p:cNvSpPr/>
          <p:nvPr/>
        </p:nvSpPr>
        <p:spPr>
          <a:xfrm>
            <a:off x="4587240" y="7926705"/>
            <a:ext cx="136421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client</a:t>
            </a:r>
            <a:endParaRPr lang="en-US" sz="1875" dirty="0"/>
          </a:p>
        </p:txBody>
      </p:sp>
      <p:sp>
        <p:nvSpPr>
          <p:cNvPr id="57" name="Shape 55"/>
          <p:cNvSpPr/>
          <p:nvPr/>
        </p:nvSpPr>
        <p:spPr>
          <a:xfrm>
            <a:off x="6275308" y="7802880"/>
            <a:ext cx="1141095" cy="605790"/>
          </a:xfrm>
          <a:prstGeom prst="roundRect">
            <a:avLst>
              <a:gd name="adj" fmla="val 12579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1528" y="7934325"/>
            <a:ext cx="74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40406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recipients see. Registered per client and approved through iSMS before it can be used.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portal.smsbroadcast.my/settings/sender-ids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2020" y="8168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0540" y="3406140"/>
            <a:ext cx="1291209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27" name="Shape 25"/>
          <p:cNvSpPr/>
          <p:nvPr/>
        </p:nvSpPr>
        <p:spPr>
          <a:xfrm>
            <a:off x="4320540" y="3411855"/>
            <a:ext cx="1191220" cy="2286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28" name="Text 26"/>
          <p:cNvSpPr/>
          <p:nvPr/>
        </p:nvSpPr>
        <p:spPr>
          <a:xfrm>
            <a:off x="4320540" y="2929890"/>
            <a:ext cx="1267420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IDs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5759411" y="2929890"/>
            <a:ext cx="8945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6825377" y="2929890"/>
            <a:ext cx="13948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4320540" y="3604260"/>
            <a:ext cx="12912090" cy="254508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361188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37710" y="3764280"/>
            <a:ext cx="25999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7468791" y="3764280"/>
            <a:ext cx="38074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1572280" y="3764280"/>
            <a:ext cx="25999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status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4503360" y="3764280"/>
            <a:ext cx="25999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4328160" y="486156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4537710" y="4392930"/>
            <a:ext cx="2599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MBB-OTP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68791" y="4381500"/>
            <a:ext cx="3807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and OTP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572280" y="4387215"/>
            <a:ext cx="1084898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1" name="Text 39"/>
          <p:cNvSpPr/>
          <p:nvPr/>
        </p:nvSpPr>
        <p:spPr>
          <a:xfrm>
            <a:off x="11686580" y="4434840"/>
            <a:ext cx="9324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575" dirty="0"/>
          </a:p>
        </p:txBody>
      </p:sp>
      <p:sp>
        <p:nvSpPr>
          <p:cNvPr id="42" name="Text 40"/>
          <p:cNvSpPr/>
          <p:nvPr/>
        </p:nvSpPr>
        <p:spPr>
          <a:xfrm>
            <a:off x="14503360" y="4381500"/>
            <a:ext cx="25999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Jan 2026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328160" y="55016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4" name="Text 42"/>
          <p:cNvSpPr/>
          <p:nvPr/>
        </p:nvSpPr>
        <p:spPr>
          <a:xfrm>
            <a:off x="4537710" y="5033010"/>
            <a:ext cx="2599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MAYBANK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468791" y="5021580"/>
            <a:ext cx="3807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alerts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572280" y="5027295"/>
            <a:ext cx="1084898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7" name="Text 45"/>
          <p:cNvSpPr/>
          <p:nvPr/>
        </p:nvSpPr>
        <p:spPr>
          <a:xfrm>
            <a:off x="11686580" y="5074920"/>
            <a:ext cx="9324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4503360" y="5021580"/>
            <a:ext cx="25999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Jan 2026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328160" y="5509260"/>
            <a:ext cx="12896850" cy="6324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37710" y="5673090"/>
            <a:ext cx="2599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MBB-PROMO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468791" y="5661660"/>
            <a:ext cx="3807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572280" y="5667375"/>
            <a:ext cx="1496259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53" name="Text 51"/>
          <p:cNvSpPr/>
          <p:nvPr/>
        </p:nvSpPr>
        <p:spPr>
          <a:xfrm>
            <a:off x="11686580" y="5715000"/>
            <a:ext cx="134385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iSMS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14503360" y="5661660"/>
            <a:ext cx="25999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Sep 2026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320540" y="6339840"/>
            <a:ext cx="12912090" cy="141732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4860" y="6576060"/>
            <a:ext cx="110749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another sender ID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4594860" y="6949440"/>
            <a:ext cx="10068163" cy="571500"/>
          </a:xfrm>
          <a:prstGeom prst="roundRect">
            <a:avLst>
              <a:gd name="adj" fmla="val 13333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7071360"/>
            <a:ext cx="100501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11 characters, letters and digits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891624" y="6930390"/>
            <a:ext cx="2066687" cy="590550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/>
        </p:spPr>
      </p:sp>
      <p:sp>
        <p:nvSpPr>
          <p:cNvPr id="60" name="Text 58"/>
          <p:cNvSpPr/>
          <p:nvPr/>
        </p:nvSpPr>
        <p:spPr>
          <a:xfrm>
            <a:off x="15139274" y="7054215"/>
            <a:ext cx="164758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1972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the client system uses to send. Rotatable, revocable, with optional IP whitelisting.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portal.smsbroadcast.my/settings/api-keys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2020" y="8168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0540" y="3406140"/>
            <a:ext cx="1291209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27" name="Text 25"/>
          <p:cNvSpPr/>
          <p:nvPr/>
        </p:nvSpPr>
        <p:spPr>
          <a:xfrm>
            <a:off x="4320540" y="2929890"/>
            <a:ext cx="11410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633085" y="3411855"/>
            <a:ext cx="939641" cy="2286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29" name="Text 27"/>
          <p:cNvSpPr/>
          <p:nvPr/>
        </p:nvSpPr>
        <p:spPr>
          <a:xfrm>
            <a:off x="5633085" y="2929890"/>
            <a:ext cx="1015841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6820376" y="2929890"/>
            <a:ext cx="139481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4320540" y="3604260"/>
            <a:ext cx="12912090" cy="2545080"/>
          </a:xfrm>
          <a:prstGeom prst="roundRect">
            <a:avLst>
              <a:gd name="adj" fmla="val 449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361188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37710" y="3764280"/>
            <a:ext cx="30247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7881223" y="3764280"/>
            <a:ext cx="20454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269617" y="3764280"/>
            <a:ext cx="253283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whitelist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3135570" y="3764280"/>
            <a:ext cx="20453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used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5523845" y="3764280"/>
            <a:ext cx="156769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4328160" y="486156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9" name="Text 37"/>
          <p:cNvSpPr/>
          <p:nvPr/>
        </p:nvSpPr>
        <p:spPr>
          <a:xfrm>
            <a:off x="4537710" y="4408170"/>
            <a:ext cx="30247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key_live_8f2a••••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7881223" y="4381500"/>
            <a:ext cx="204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269617" y="4408170"/>
            <a:ext cx="253283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203.115.4.0/24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3135570" y="4381500"/>
            <a:ext cx="20453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ago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523845" y="438721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4" name="Text 42"/>
          <p:cNvSpPr/>
          <p:nvPr/>
        </p:nvSpPr>
        <p:spPr>
          <a:xfrm>
            <a:off x="15638145" y="443484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4328160" y="55016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6" name="Text 44"/>
          <p:cNvSpPr/>
          <p:nvPr/>
        </p:nvSpPr>
        <p:spPr>
          <a:xfrm>
            <a:off x="4537710" y="5048250"/>
            <a:ext cx="30247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key_live_5b77••••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881223" y="5021580"/>
            <a:ext cx="204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sandbox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269617" y="5021580"/>
            <a:ext cx="253283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3135570" y="5021580"/>
            <a:ext cx="20453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 ago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523845" y="502729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51" name="Text 49"/>
          <p:cNvSpPr/>
          <p:nvPr/>
        </p:nvSpPr>
        <p:spPr>
          <a:xfrm>
            <a:off x="15638145" y="507492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52" name="Shape 50"/>
          <p:cNvSpPr/>
          <p:nvPr/>
        </p:nvSpPr>
        <p:spPr>
          <a:xfrm>
            <a:off x="4328160" y="5509260"/>
            <a:ext cx="12896850" cy="6324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3" name="Text 51"/>
          <p:cNvSpPr/>
          <p:nvPr/>
        </p:nvSpPr>
        <p:spPr>
          <a:xfrm>
            <a:off x="4537710" y="5688330"/>
            <a:ext cx="30247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key_live_31c7••••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7881223" y="5661660"/>
            <a:ext cx="20454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integration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269617" y="5661660"/>
            <a:ext cx="253283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3135570" y="5661660"/>
            <a:ext cx="204537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Mar 2026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523845" y="5667375"/>
            <a:ext cx="1018103" cy="323850"/>
          </a:xfrm>
          <a:prstGeom prst="roundRect">
            <a:avLst>
              <a:gd name="adj" fmla="val 17647"/>
            </a:avLst>
          </a:prstGeom>
          <a:solidFill>
            <a:srgbClr val="FDD9D3"/>
          </a:solidFill>
          <a:ln/>
        </p:spPr>
      </p:sp>
      <p:sp>
        <p:nvSpPr>
          <p:cNvPr id="58" name="Text 56"/>
          <p:cNvSpPr/>
          <p:nvPr/>
        </p:nvSpPr>
        <p:spPr>
          <a:xfrm>
            <a:off x="15638145" y="5715000"/>
            <a:ext cx="8657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4320540" y="6339840"/>
            <a:ext cx="12912090" cy="1101090"/>
          </a:xfrm>
          <a:prstGeom prst="roundRect">
            <a:avLst>
              <a:gd name="adj" fmla="val 10381"/>
            </a:avLst>
          </a:prstGeom>
          <a:solidFill>
            <a:srgbClr val="1C2B4A"/>
          </a:solidFill>
          <a:ln/>
        </p:spPr>
      </p:sp>
      <p:sp>
        <p:nvSpPr>
          <p:cNvPr id="60" name="Text 58"/>
          <p:cNvSpPr/>
          <p:nvPr/>
        </p:nvSpPr>
        <p:spPr>
          <a:xfrm>
            <a:off x="4587240" y="6568440"/>
            <a:ext cx="619298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key generated</a:t>
            </a:r>
            <a:endParaRPr lang="en-US" sz="1875" dirty="0"/>
          </a:p>
        </p:txBody>
      </p:sp>
      <p:sp>
        <p:nvSpPr>
          <p:cNvPr id="61" name="Text 59"/>
          <p:cNvSpPr/>
          <p:nvPr/>
        </p:nvSpPr>
        <p:spPr>
          <a:xfrm>
            <a:off x="4587240" y="6899910"/>
            <a:ext cx="61929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E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is displayed once. Store it before closing this panel.</a:t>
            </a:r>
            <a:endParaRPr lang="en-US" sz="1725" dirty="0"/>
          </a:p>
        </p:txBody>
      </p:sp>
      <p:sp>
        <p:nvSpPr>
          <p:cNvPr id="62" name="Shape 60"/>
          <p:cNvSpPr/>
          <p:nvPr/>
        </p:nvSpPr>
        <p:spPr>
          <a:xfrm>
            <a:off x="13129260" y="6631305"/>
            <a:ext cx="3836670" cy="518160"/>
          </a:xfrm>
          <a:prstGeom prst="roundRect">
            <a:avLst>
              <a:gd name="adj" fmla="val 14706"/>
            </a:avLst>
          </a:prstGeom>
          <a:solidFill>
            <a:srgbClr val="2A3B5E"/>
          </a:solidFill>
          <a:ln/>
        </p:spPr>
      </p:sp>
      <p:sp>
        <p:nvSpPr>
          <p:cNvPr id="63" name="Text 61"/>
          <p:cNvSpPr/>
          <p:nvPr/>
        </p:nvSpPr>
        <p:spPr>
          <a:xfrm>
            <a:off x="13338810" y="6745605"/>
            <a:ext cx="353267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sk_live_a91f27c4b8e0d3••••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6337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and Roles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client builds its own roles. Permissions are per client, not a fixed two-role system.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portal.smsbroadcast.my/users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22020" y="7501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77509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4320540" y="3409950"/>
            <a:ext cx="7046357" cy="299466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8160" y="3417570"/>
            <a:ext cx="7031117" cy="579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18660" y="3550920"/>
            <a:ext cx="26559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7467124" y="3550920"/>
            <a:ext cx="1963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9735264" y="3550920"/>
            <a:ext cx="150971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4328160" y="4591050"/>
            <a:ext cx="7031117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3" name="Text 31"/>
          <p:cNvSpPr/>
          <p:nvPr/>
        </p:nvSpPr>
        <p:spPr>
          <a:xfrm>
            <a:off x="4518660" y="4130040"/>
            <a:ext cx="265591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siti.rahman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67124" y="4130040"/>
            <a:ext cx="1963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admin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35264" y="4130040"/>
            <a:ext cx="15097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328160" y="5193030"/>
            <a:ext cx="7031117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7" name="Text 35"/>
          <p:cNvSpPr/>
          <p:nvPr/>
        </p:nvSpPr>
        <p:spPr>
          <a:xfrm>
            <a:off x="4518660" y="4732020"/>
            <a:ext cx="265591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hafiz.aziz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67124" y="4732020"/>
            <a:ext cx="1963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officer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35264" y="4732020"/>
            <a:ext cx="15097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328160" y="5795010"/>
            <a:ext cx="7031117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9"/>
          <p:cNvSpPr/>
          <p:nvPr/>
        </p:nvSpPr>
        <p:spPr>
          <a:xfrm>
            <a:off x="4518660" y="5334000"/>
            <a:ext cx="265591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lim.wei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467124" y="5334000"/>
            <a:ext cx="1963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only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735264" y="5334000"/>
            <a:ext cx="15097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328160" y="5802630"/>
            <a:ext cx="7031117" cy="5943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45" name="Text 43"/>
          <p:cNvSpPr/>
          <p:nvPr/>
        </p:nvSpPr>
        <p:spPr>
          <a:xfrm>
            <a:off x="4518660" y="5935980"/>
            <a:ext cx="265591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nurul.aini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67124" y="5935980"/>
            <a:ext cx="1963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735264" y="5935980"/>
            <a:ext cx="15097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320540" y="6557010"/>
            <a:ext cx="1388983" cy="590550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68190" y="6680835"/>
            <a:ext cx="9698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</a:t>
            </a:r>
            <a:endParaRPr lang="en-US" sz="1875" dirty="0"/>
          </a:p>
        </p:txBody>
      </p:sp>
      <p:sp>
        <p:nvSpPr>
          <p:cNvPr id="50" name="Text 48"/>
          <p:cNvSpPr/>
          <p:nvPr/>
        </p:nvSpPr>
        <p:spPr>
          <a:xfrm>
            <a:off x="11595497" y="2929890"/>
            <a:ext cx="620084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— Campaign officer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11595497" y="3409950"/>
            <a:ext cx="5637133" cy="306705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850767" y="3627120"/>
            <a:ext cx="19670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6463010" y="364807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2ECC9B"/>
          </a:solidFill>
          <a:ln/>
        </p:spPr>
      </p:sp>
      <p:sp>
        <p:nvSpPr>
          <p:cNvPr id="54" name="Text 52"/>
          <p:cNvSpPr/>
          <p:nvPr/>
        </p:nvSpPr>
        <p:spPr>
          <a:xfrm>
            <a:off x="11850767" y="4088130"/>
            <a:ext cx="221520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recipient lists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6463010" y="410908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2ECC9B"/>
          </a:solidFill>
          <a:ln/>
        </p:spPr>
      </p:sp>
      <p:sp>
        <p:nvSpPr>
          <p:cNvPr id="56" name="Text 54"/>
          <p:cNvSpPr/>
          <p:nvPr/>
        </p:nvSpPr>
        <p:spPr>
          <a:xfrm>
            <a:off x="11850767" y="4549140"/>
            <a:ext cx="12663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6463010" y="457009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2ECC9B"/>
          </a:solidFill>
          <a:ln/>
        </p:spPr>
      </p:sp>
      <p:sp>
        <p:nvSpPr>
          <p:cNvPr id="58" name="Text 56"/>
          <p:cNvSpPr/>
          <p:nvPr/>
        </p:nvSpPr>
        <p:spPr>
          <a:xfrm>
            <a:off x="11850767" y="5010150"/>
            <a:ext cx="173625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API keys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6463010" y="503110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DFE4EC"/>
          </a:solidFill>
          <a:ln/>
        </p:spPr>
      </p:sp>
      <p:sp>
        <p:nvSpPr>
          <p:cNvPr id="60" name="Text 58"/>
          <p:cNvSpPr/>
          <p:nvPr/>
        </p:nvSpPr>
        <p:spPr>
          <a:xfrm>
            <a:off x="11850767" y="5471160"/>
            <a:ext cx="172040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top-ups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6463010" y="549211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DFE4EC"/>
          </a:solidFill>
          <a:ln/>
        </p:spPr>
      </p:sp>
      <p:sp>
        <p:nvSpPr>
          <p:cNvPr id="62" name="Text 60"/>
          <p:cNvSpPr/>
          <p:nvPr/>
        </p:nvSpPr>
        <p:spPr>
          <a:xfrm>
            <a:off x="11850767" y="5932170"/>
            <a:ext cx="14308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users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6463010" y="5953125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DFE4E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2275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admins create their own staff accounts directly, set the role and issue the first password.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portal.smsbroadcast.my/users/new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22020" y="7501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42032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320540" y="3444240"/>
            <a:ext cx="12912090" cy="31851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5810" y="3661410"/>
            <a:ext cx="136417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details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5810" y="407289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575810" y="442722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6780" y="453009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Nurul Aini binti Kamal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766810" y="407289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766810" y="442722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07780" y="453009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nurul.aini@maybank.com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957810" y="407289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number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957810" y="4427220"/>
            <a:ext cx="4019550" cy="510540"/>
          </a:xfrm>
          <a:prstGeom prst="roundRect">
            <a:avLst>
              <a:gd name="adj" fmla="val 1492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98780" y="4530090"/>
            <a:ext cx="38581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+60123998877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5810" y="5113020"/>
            <a:ext cx="136417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75810" y="552450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4575810" y="587883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6780" y="598170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officer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766810" y="552450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password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8766810" y="587883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07780" y="598170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and email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957810" y="5524500"/>
            <a:ext cx="442150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2957810" y="5878830"/>
            <a:ext cx="401955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098780" y="5981700"/>
            <a:ext cx="385819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320540" y="6800850"/>
            <a:ext cx="12912090" cy="84582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5810" y="7059930"/>
            <a:ext cx="17902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permissions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6489025" y="6998970"/>
            <a:ext cx="1944053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51" name="Text 49"/>
          <p:cNvSpPr/>
          <p:nvPr/>
        </p:nvSpPr>
        <p:spPr>
          <a:xfrm>
            <a:off x="6641425" y="7075170"/>
            <a:ext cx="171545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campaigns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8547378" y="6998970"/>
            <a:ext cx="1849279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53" name="Text 51"/>
          <p:cNvSpPr/>
          <p:nvPr/>
        </p:nvSpPr>
        <p:spPr>
          <a:xfrm>
            <a:off x="8699778" y="7075170"/>
            <a:ext cx="16206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recipients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0510957" y="6998970"/>
            <a:ext cx="1273612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55" name="Text 53"/>
          <p:cNvSpPr/>
          <p:nvPr/>
        </p:nvSpPr>
        <p:spPr>
          <a:xfrm>
            <a:off x="10663357" y="7075170"/>
            <a:ext cx="104501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898868" y="6998970"/>
            <a:ext cx="1395770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57" name="Text 55"/>
          <p:cNvSpPr/>
          <p:nvPr/>
        </p:nvSpPr>
        <p:spPr>
          <a:xfrm>
            <a:off x="12051268" y="7075170"/>
            <a:ext cx="116717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reports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4320540" y="7818120"/>
            <a:ext cx="1689021" cy="605790"/>
          </a:xfrm>
          <a:prstGeom prst="roundRect">
            <a:avLst>
              <a:gd name="adj" fmla="val 12579"/>
            </a:avLst>
          </a:prstGeom>
          <a:solidFill>
            <a:srgbClr val="1C2B4A"/>
          </a:solidFill>
          <a:ln/>
        </p:spPr>
      </p:sp>
      <p:sp>
        <p:nvSpPr>
          <p:cNvPr id="59" name="Text 57"/>
          <p:cNvSpPr/>
          <p:nvPr/>
        </p:nvSpPr>
        <p:spPr>
          <a:xfrm>
            <a:off x="4587240" y="7941945"/>
            <a:ext cx="123182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user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6142911" y="7818120"/>
            <a:ext cx="1141095" cy="605790"/>
          </a:xfrm>
          <a:prstGeom prst="roundRect">
            <a:avLst>
              <a:gd name="adj" fmla="val 12579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79131" y="7949565"/>
            <a:ext cx="7448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5379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504444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and Billing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616839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9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08–12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92662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credit by top-up size. Set by internal admin and applied automatically at top-up.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portal.smsbroadcast.my/admin/pricing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3017520"/>
            <a:ext cx="1751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5875794" y="2929890"/>
            <a:ext cx="1356836" cy="518160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16085344" y="3025140"/>
            <a:ext cx="101393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tier +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20540" y="3638550"/>
            <a:ext cx="12912090" cy="31851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37710" y="3798570"/>
            <a:ext cx="276890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size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7632859" y="3798570"/>
            <a:ext cx="22376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credit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10212229" y="3798570"/>
            <a:ext cx="22376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12791599" y="3798570"/>
            <a:ext cx="22376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on tier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15370969" y="3798570"/>
            <a:ext cx="172069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4328160" y="48958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5" name="Text 33"/>
          <p:cNvSpPr/>
          <p:nvPr/>
        </p:nvSpPr>
        <p:spPr>
          <a:xfrm>
            <a:off x="4537710" y="4415790"/>
            <a:ext cx="276890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credits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32859" y="441579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RM0.120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212229" y="441579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RM120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791599" y="441579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370969" y="442150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0" name="Text 38"/>
          <p:cNvSpPr/>
          <p:nvPr/>
        </p:nvSpPr>
        <p:spPr>
          <a:xfrm>
            <a:off x="15485269" y="446913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41" name="Shape 39"/>
          <p:cNvSpPr/>
          <p:nvPr/>
        </p:nvSpPr>
        <p:spPr>
          <a:xfrm>
            <a:off x="4328160" y="553593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2" name="Text 40"/>
          <p:cNvSpPr/>
          <p:nvPr/>
        </p:nvSpPr>
        <p:spPr>
          <a:xfrm>
            <a:off x="4537710" y="5055870"/>
            <a:ext cx="276890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credits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632859" y="505587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RM0.110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212229" y="505587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RM1,100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791599" y="505587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370969" y="506158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7" name="Text 45"/>
          <p:cNvSpPr/>
          <p:nvPr/>
        </p:nvSpPr>
        <p:spPr>
          <a:xfrm>
            <a:off x="15485269" y="510921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4328160" y="617601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9" name="Text 47"/>
          <p:cNvSpPr/>
          <p:nvPr/>
        </p:nvSpPr>
        <p:spPr>
          <a:xfrm>
            <a:off x="4537710" y="5695950"/>
            <a:ext cx="276890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credits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632859" y="569595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RM0.095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212229" y="569595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791599" y="569595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370969" y="5701665"/>
            <a:ext cx="773311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54" name="Text 52"/>
          <p:cNvSpPr/>
          <p:nvPr/>
        </p:nvSpPr>
        <p:spPr>
          <a:xfrm>
            <a:off x="15485269" y="5749290"/>
            <a:ext cx="6209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4328160" y="6183630"/>
            <a:ext cx="12896850" cy="6324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6" name="Text 54"/>
          <p:cNvSpPr/>
          <p:nvPr/>
        </p:nvSpPr>
        <p:spPr>
          <a:xfrm>
            <a:off x="4537710" y="6336030"/>
            <a:ext cx="276890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credits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632859" y="633603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RM0.090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212229" y="633603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RM45,000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2791599" y="6336030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370969" y="6341745"/>
            <a:ext cx="662107" cy="323850"/>
          </a:xfrm>
          <a:prstGeom prst="roundRect">
            <a:avLst>
              <a:gd name="adj" fmla="val 17647"/>
            </a:avLst>
          </a:prstGeom>
          <a:solidFill>
            <a:srgbClr val="E4E7EE"/>
          </a:solidFill>
          <a:ln/>
        </p:spPr>
      </p:sp>
      <p:sp>
        <p:nvSpPr>
          <p:cNvPr id="61" name="Text 59"/>
          <p:cNvSpPr/>
          <p:nvPr/>
        </p:nvSpPr>
        <p:spPr>
          <a:xfrm>
            <a:off x="15485269" y="6389370"/>
            <a:ext cx="5097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575" dirty="0"/>
          </a:p>
        </p:txBody>
      </p:sp>
      <p:sp>
        <p:nvSpPr>
          <p:cNvPr id="62" name="Shape 60"/>
          <p:cNvSpPr/>
          <p:nvPr/>
        </p:nvSpPr>
        <p:spPr>
          <a:xfrm>
            <a:off x="4320540" y="7014210"/>
            <a:ext cx="12912090" cy="135636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5810" y="7231380"/>
            <a:ext cx="58045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size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4575810" y="7604760"/>
            <a:ext cx="5276850" cy="548640"/>
          </a:xfrm>
          <a:prstGeom prst="roundRect">
            <a:avLst>
              <a:gd name="adj" fmla="val 13889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35830" y="7726680"/>
            <a:ext cx="5115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500000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081260" y="7231380"/>
            <a:ext cx="58045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credit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0081260" y="7604760"/>
            <a:ext cx="5276850" cy="548640"/>
          </a:xfrm>
          <a:prstGeom prst="roundRect">
            <a:avLst>
              <a:gd name="adj" fmla="val 13889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241280" y="7726680"/>
            <a:ext cx="5115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0.090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586710" y="7562850"/>
            <a:ext cx="1390650" cy="590550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/>
        </p:spPr>
      </p:sp>
      <p:sp>
        <p:nvSpPr>
          <p:cNvPr id="70" name="Text 68"/>
          <p:cNvSpPr/>
          <p:nvPr/>
        </p:nvSpPr>
        <p:spPr>
          <a:xfrm>
            <a:off x="15834360" y="7686675"/>
            <a:ext cx="9715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tier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8508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Top-Up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requests credit, pays against the invoice reference, and uploads the transfer slip.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portal.smsbroadcast.my/wallet/top-up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2020" y="6168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730805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top-up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320540" y="3444240"/>
            <a:ext cx="6643688" cy="2141220"/>
          </a:xfrm>
          <a:prstGeom prst="roundRect">
            <a:avLst>
              <a:gd name="adj" fmla="val 533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4860" y="3680460"/>
            <a:ext cx="670455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to purchase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4594860" y="4110990"/>
            <a:ext cx="6095048" cy="655320"/>
          </a:xfrm>
          <a:prstGeom prst="roundRect">
            <a:avLst>
              <a:gd name="adj" fmla="val 11628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930" y="4251960"/>
            <a:ext cx="591975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100,000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594860" y="4899660"/>
            <a:ext cx="773668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32" name="Text 30"/>
          <p:cNvSpPr/>
          <p:nvPr/>
        </p:nvSpPr>
        <p:spPr>
          <a:xfrm>
            <a:off x="4747260" y="4975860"/>
            <a:ext cx="5450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5463778" y="4899660"/>
            <a:ext cx="877729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5616178" y="4975860"/>
            <a:ext cx="64912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436757" y="4899660"/>
            <a:ext cx="981908" cy="449580"/>
          </a:xfrm>
          <a:prstGeom prst="roundRect">
            <a:avLst>
              <a:gd name="adj" fmla="val 12712"/>
            </a:avLst>
          </a:prstGeom>
          <a:solidFill>
            <a:srgbClr val="6F5CD8"/>
          </a:solidFill>
          <a:ln/>
        </p:spPr>
      </p:sp>
      <p:sp>
        <p:nvSpPr>
          <p:cNvPr id="36" name="Text 34"/>
          <p:cNvSpPr/>
          <p:nvPr/>
        </p:nvSpPr>
        <p:spPr>
          <a:xfrm>
            <a:off x="6589157" y="4975860"/>
            <a:ext cx="7533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7513915" y="4899660"/>
            <a:ext cx="975241" cy="449580"/>
          </a:xfrm>
          <a:prstGeom prst="roundRect">
            <a:avLst>
              <a:gd name="adj" fmla="val 12712"/>
            </a:avLst>
          </a:prstGeom>
          <a:solidFill>
            <a:srgbClr val="EEF1F6"/>
          </a:solidFill>
          <a:ln/>
        </p:spPr>
      </p:sp>
      <p:sp>
        <p:nvSpPr>
          <p:cNvPr id="38" name="Text 36"/>
          <p:cNvSpPr/>
          <p:nvPr/>
        </p:nvSpPr>
        <p:spPr>
          <a:xfrm>
            <a:off x="7666315" y="4975860"/>
            <a:ext cx="74664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320540" y="5756910"/>
            <a:ext cx="6643688" cy="162306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94860" y="5993130"/>
            <a:ext cx="670455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slip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4594860" y="6404610"/>
            <a:ext cx="6095048" cy="739140"/>
          </a:xfrm>
          <a:prstGeom prst="roundRect">
            <a:avLst>
              <a:gd name="adj" fmla="val 12887"/>
            </a:avLst>
          </a:prstGeom>
          <a:ln w="15240">
            <a:solidFill>
              <a:srgbClr val="C3CBD9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709174" y="6610350"/>
            <a:ext cx="58664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 bank transfer slip here (PDF or image)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192827" y="2929890"/>
            <a:ext cx="664378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11192827" y="3444240"/>
            <a:ext cx="6039803" cy="2907030"/>
          </a:xfrm>
          <a:prstGeom prst="roundRect">
            <a:avLst>
              <a:gd name="adj" fmla="val 393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67148" y="3680460"/>
            <a:ext cx="604027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1467148" y="4518660"/>
            <a:ext cx="54911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11467148" y="4095750"/>
            <a:ext cx="12176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applied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5374779" y="4095750"/>
            <a:ext cx="17418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RM0.095 / credit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467148" y="5082540"/>
            <a:ext cx="54911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0" name="Text 48"/>
          <p:cNvSpPr/>
          <p:nvPr/>
        </p:nvSpPr>
        <p:spPr>
          <a:xfrm>
            <a:off x="11467148" y="4659630"/>
            <a:ext cx="14008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payable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5823288" y="4659630"/>
            <a:ext cx="12112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RM9,500.00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1467148" y="5646420"/>
            <a:ext cx="54911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3" name="Text 51"/>
          <p:cNvSpPr/>
          <p:nvPr/>
        </p:nvSpPr>
        <p:spPr>
          <a:xfrm>
            <a:off x="11467148" y="5223510"/>
            <a:ext cx="102298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5174873" y="5223510"/>
            <a:ext cx="196178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TOP-2026-0418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467148" y="5787390"/>
            <a:ext cx="235154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after approval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6191786" y="5787390"/>
            <a:ext cx="8427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582,310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192827" y="6522720"/>
            <a:ext cx="6039803" cy="653891"/>
          </a:xfrm>
          <a:prstGeom prst="roundRect">
            <a:avLst>
              <a:gd name="adj" fmla="val 17480"/>
            </a:avLst>
          </a:prstGeom>
          <a:solidFill>
            <a:srgbClr val="FFF7E6"/>
          </a:solidFill>
          <a:ln w="7620">
            <a:solidFill>
              <a:srgbClr val="FFD9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409997" y="6701790"/>
            <a:ext cx="5786657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14"/>
              </a:lnSpc>
              <a:buNone/>
            </a:pPr>
            <a:r>
              <a:rPr lang="en-US" sz="1725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is added only after internal admin confirms payment.</a:t>
            </a:r>
            <a:endParaRPr lang="en-US" sz="1725" dirty="0"/>
          </a:p>
        </p:txBody>
      </p:sp>
      <p:sp>
        <p:nvSpPr>
          <p:cNvPr id="59" name="Shape 57"/>
          <p:cNvSpPr/>
          <p:nvPr/>
        </p:nvSpPr>
        <p:spPr>
          <a:xfrm>
            <a:off x="11192827" y="7348061"/>
            <a:ext cx="6039803" cy="609600"/>
          </a:xfrm>
          <a:prstGeom prst="roundRect">
            <a:avLst>
              <a:gd name="adj" fmla="val 12500"/>
            </a:avLst>
          </a:prstGeom>
          <a:solidFill>
            <a:srgbClr val="1C2B4A"/>
          </a:solidFill>
          <a:ln/>
        </p:spPr>
      </p:sp>
      <p:sp>
        <p:nvSpPr>
          <p:cNvPr id="60" name="Text 58"/>
          <p:cNvSpPr/>
          <p:nvPr/>
        </p:nvSpPr>
        <p:spPr>
          <a:xfrm>
            <a:off x="11235580" y="7481411"/>
            <a:ext cx="595429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</a:t>
            </a:r>
            <a:endParaRPr lang="en-US" sz="18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946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queue of payment confirmations. Approving credits the wallet and stamps who did 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portal.smsbroadcast.my/admin/top-ups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2020" y="41681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3017520"/>
            <a:ext cx="240432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requests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4075926" y="2929890"/>
            <a:ext cx="1400532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74046" y="3032760"/>
            <a:ext cx="108049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· 3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15590759" y="2929890"/>
            <a:ext cx="1641872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88879" y="3032760"/>
            <a:ext cx="132183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· 41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4320540" y="3638550"/>
            <a:ext cx="12912090" cy="265176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18660" y="3798570"/>
            <a:ext cx="244989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7267099" y="3798570"/>
            <a:ext cx="202084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9592746" y="3798570"/>
            <a:ext cx="13866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11284148" y="3798570"/>
            <a:ext cx="13866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2975551" y="3798570"/>
            <a:ext cx="159805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4878407" y="3798570"/>
            <a:ext cx="22321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4328160" y="4263390"/>
            <a:ext cx="12896850" cy="71247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328160" y="49682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9" name="Text 37"/>
          <p:cNvSpPr/>
          <p:nvPr/>
        </p:nvSpPr>
        <p:spPr>
          <a:xfrm>
            <a:off x="4518660" y="4451985"/>
            <a:ext cx="24498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67099" y="4478655"/>
            <a:ext cx="202084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TOP-2026-0418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92746" y="4451985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284148" y="4451985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975551" y="4457700"/>
            <a:ext cx="962739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44" name="Text 42"/>
          <p:cNvSpPr/>
          <p:nvPr/>
        </p:nvSpPr>
        <p:spPr>
          <a:xfrm>
            <a:off x="13089851" y="4505325"/>
            <a:ext cx="8103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14878407" y="4396740"/>
            <a:ext cx="984409" cy="438150"/>
          </a:xfrm>
          <a:prstGeom prst="roundRect">
            <a:avLst>
              <a:gd name="adj" fmla="val 13043"/>
            </a:avLst>
          </a:prstGeom>
          <a:solidFill>
            <a:srgbClr val="1F7A4D"/>
          </a:solidFill>
          <a:ln/>
        </p:spPr>
      </p:sp>
      <p:sp>
        <p:nvSpPr>
          <p:cNvPr id="46" name="Text 44"/>
          <p:cNvSpPr/>
          <p:nvPr/>
        </p:nvSpPr>
        <p:spPr>
          <a:xfrm>
            <a:off x="15011757" y="4463415"/>
            <a:ext cx="7939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15939017" y="4396740"/>
            <a:ext cx="816412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079987" y="4471035"/>
            <a:ext cx="61067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575" dirty="0"/>
          </a:p>
        </p:txBody>
      </p:sp>
      <p:sp>
        <p:nvSpPr>
          <p:cNvPr id="49" name="Shape 47"/>
          <p:cNvSpPr/>
          <p:nvPr/>
        </p:nvSpPr>
        <p:spPr>
          <a:xfrm>
            <a:off x="4328160" y="568071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0" name="Text 48"/>
          <p:cNvSpPr/>
          <p:nvPr/>
        </p:nvSpPr>
        <p:spPr>
          <a:xfrm>
            <a:off x="4518660" y="5164455"/>
            <a:ext cx="24498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Prima Group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267099" y="5191125"/>
            <a:ext cx="202084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TOP-2026-0419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592746" y="5164455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284148" y="5164455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RM120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2975551" y="5170170"/>
            <a:ext cx="962739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55" name="Text 53"/>
          <p:cNvSpPr/>
          <p:nvPr/>
        </p:nvSpPr>
        <p:spPr>
          <a:xfrm>
            <a:off x="13089851" y="5217795"/>
            <a:ext cx="8103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14878407" y="5109210"/>
            <a:ext cx="984409" cy="438150"/>
          </a:xfrm>
          <a:prstGeom prst="roundRect">
            <a:avLst>
              <a:gd name="adj" fmla="val 13043"/>
            </a:avLst>
          </a:prstGeom>
          <a:solidFill>
            <a:srgbClr val="1F7A4D"/>
          </a:solidFill>
          <a:ln/>
        </p:spPr>
      </p:sp>
      <p:sp>
        <p:nvSpPr>
          <p:cNvPr id="57" name="Text 55"/>
          <p:cNvSpPr/>
          <p:nvPr/>
        </p:nvSpPr>
        <p:spPr>
          <a:xfrm>
            <a:off x="15011757" y="5175885"/>
            <a:ext cx="7939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15939017" y="5109210"/>
            <a:ext cx="816412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079987" y="5183505"/>
            <a:ext cx="61067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575" dirty="0"/>
          </a:p>
        </p:txBody>
      </p:sp>
      <p:sp>
        <p:nvSpPr>
          <p:cNvPr id="60" name="Text 58"/>
          <p:cNvSpPr/>
          <p:nvPr/>
        </p:nvSpPr>
        <p:spPr>
          <a:xfrm>
            <a:off x="4518660" y="5821680"/>
            <a:ext cx="244989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Koperasi Sejahtera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267099" y="5848350"/>
            <a:ext cx="202084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TOP-2026-0417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9592746" y="582168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1284148" y="582168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RM1,100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2975551" y="5827395"/>
            <a:ext cx="1084898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65" name="Text 63"/>
          <p:cNvSpPr/>
          <p:nvPr/>
        </p:nvSpPr>
        <p:spPr>
          <a:xfrm>
            <a:off x="13089851" y="5875020"/>
            <a:ext cx="9324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14878407" y="5836920"/>
            <a:ext cx="22321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admin.faridah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4320540" y="6480810"/>
            <a:ext cx="12912090" cy="1363980"/>
          </a:xfrm>
          <a:prstGeom prst="roundRect">
            <a:avLst>
              <a:gd name="adj" fmla="val 838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5810" y="6697980"/>
            <a:ext cx="1443990" cy="929640"/>
          </a:xfrm>
          <a:prstGeom prst="roundRect">
            <a:avLst>
              <a:gd name="adj" fmla="val 8197"/>
            </a:avLst>
          </a:prstGeom>
          <a:solidFill>
            <a:srgbClr val="EEF1F6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45330" y="6705600"/>
            <a:ext cx="150495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Slip.pdf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6305550" y="6814185"/>
            <a:ext cx="45712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 — TOP-2026-0418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305550" y="7198995"/>
            <a:ext cx="45712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moves from 482,310 to 582,310 credits.</a:t>
            </a:r>
            <a:endParaRPr lang="en-US" sz="1725" dirty="0"/>
          </a:p>
        </p:txBody>
      </p:sp>
      <p:sp>
        <p:nvSpPr>
          <p:cNvPr id="72" name="Shape 70"/>
          <p:cNvSpPr/>
          <p:nvPr/>
        </p:nvSpPr>
        <p:spPr>
          <a:xfrm>
            <a:off x="14698027" y="6867525"/>
            <a:ext cx="2279333" cy="590550"/>
          </a:xfrm>
          <a:prstGeom prst="roundRect">
            <a:avLst>
              <a:gd name="adj" fmla="val 12903"/>
            </a:avLst>
          </a:prstGeom>
          <a:solidFill>
            <a:srgbClr val="1C2B4A"/>
          </a:solidFill>
          <a:ln/>
        </p:spPr>
      </p:sp>
      <p:sp>
        <p:nvSpPr>
          <p:cNvPr id="73" name="Text 71"/>
          <p:cNvSpPr/>
          <p:nvPr/>
        </p:nvSpPr>
        <p:spPr>
          <a:xfrm>
            <a:off x="14945677" y="6991350"/>
            <a:ext cx="186023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approval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3159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74739" y="571500"/>
            <a:ext cx="430913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and Ledger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balance plus every credit and debit, traceable to a top-up, campaign or refund.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portal.smsbroadcast.my/wallet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2020" y="6168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0540" y="2929890"/>
            <a:ext cx="3944660" cy="1213485"/>
          </a:xfrm>
          <a:prstGeom prst="roundRect">
            <a:avLst>
              <a:gd name="adj" fmla="val 9419"/>
            </a:avLst>
          </a:prstGeom>
          <a:solidFill>
            <a:srgbClr val="1C2B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68190" y="3139440"/>
            <a:ext cx="37942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credit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568190" y="3493770"/>
            <a:ext cx="3794296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234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482,310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8436650" y="2929890"/>
            <a:ext cx="2817733" cy="1213485"/>
          </a:xfrm>
          <a:prstGeom prst="roundRect">
            <a:avLst>
              <a:gd name="adj" fmla="val 941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91920" y="3147060"/>
            <a:ext cx="25379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this month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691920" y="3501390"/>
            <a:ext cx="2537913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118,642</a:t>
            </a:r>
            <a:endParaRPr lang="en-US" sz="2700" dirty="0"/>
          </a:p>
        </p:txBody>
      </p:sp>
      <p:sp>
        <p:nvSpPr>
          <p:cNvPr id="32" name="Shape 30"/>
          <p:cNvSpPr/>
          <p:nvPr/>
        </p:nvSpPr>
        <p:spPr>
          <a:xfrm>
            <a:off x="11425833" y="2929890"/>
            <a:ext cx="2817614" cy="1213485"/>
          </a:xfrm>
          <a:prstGeom prst="roundRect">
            <a:avLst>
              <a:gd name="adj" fmla="val 941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681103" y="3147060"/>
            <a:ext cx="253778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Refunded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681103" y="3501390"/>
            <a:ext cx="253778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2700" dirty="0"/>
          </a:p>
        </p:txBody>
      </p:sp>
      <p:sp>
        <p:nvSpPr>
          <p:cNvPr id="35" name="Shape 33"/>
          <p:cNvSpPr/>
          <p:nvPr/>
        </p:nvSpPr>
        <p:spPr>
          <a:xfrm>
            <a:off x="14414897" y="2929890"/>
            <a:ext cx="2817614" cy="1213485"/>
          </a:xfrm>
          <a:prstGeom prst="roundRect">
            <a:avLst>
              <a:gd name="adj" fmla="val 941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70167" y="3147060"/>
            <a:ext cx="253778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670167" y="3501390"/>
            <a:ext cx="2537782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days</a:t>
            </a:r>
            <a:endParaRPr lang="en-US" sz="2700" dirty="0"/>
          </a:p>
        </p:txBody>
      </p:sp>
      <p:sp>
        <p:nvSpPr>
          <p:cNvPr id="38" name="Shape 36"/>
          <p:cNvSpPr/>
          <p:nvPr/>
        </p:nvSpPr>
        <p:spPr>
          <a:xfrm>
            <a:off x="4320540" y="4333875"/>
            <a:ext cx="12912090" cy="3032760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8160" y="4341495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4537710" y="4493895"/>
            <a:ext cx="194976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6830378" y="4493895"/>
            <a:ext cx="548488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2562404" y="4493895"/>
            <a:ext cx="194976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4855071" y="4493895"/>
            <a:ext cx="223765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4328160" y="555307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5" name="Text 43"/>
          <p:cNvSpPr/>
          <p:nvPr/>
        </p:nvSpPr>
        <p:spPr>
          <a:xfrm>
            <a:off x="4537710" y="509206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30378" y="5092065"/>
            <a:ext cx="548488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— Raya statement reminder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2562404" y="509206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−24,000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855071" y="5092065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482,310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328160" y="615505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0" name="Text 48"/>
          <p:cNvSpPr/>
          <p:nvPr/>
        </p:nvSpPr>
        <p:spPr>
          <a:xfrm>
            <a:off x="4537710" y="569404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830378" y="5694045"/>
            <a:ext cx="548488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— 38 messages rejected by iSMS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562404" y="569404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4855071" y="5694045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506,310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328160" y="675703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5" name="Text 53"/>
          <p:cNvSpPr/>
          <p:nvPr/>
        </p:nvSpPr>
        <p:spPr>
          <a:xfrm>
            <a:off x="4537710" y="629602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830378" y="6296025"/>
            <a:ext cx="548488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sends — TAC/OTP daily aggregate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2562404" y="629602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−31,884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4855071" y="6296025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506,272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328160" y="6764655"/>
            <a:ext cx="12896850" cy="5943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60" name="Text 58"/>
          <p:cNvSpPr/>
          <p:nvPr/>
        </p:nvSpPr>
        <p:spPr>
          <a:xfrm>
            <a:off x="4537710" y="689800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Sep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830378" y="6898005"/>
            <a:ext cx="548488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approved — TOP-2026-0414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562404" y="6898005"/>
            <a:ext cx="19497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+500,000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14855071" y="6898005"/>
            <a:ext cx="223765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538,156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195510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Downloadable record of every top-up for the client's finance team.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portal.smsbroadcast.my/wallet/invoices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2020" y="6168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78857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320540" y="3444240"/>
            <a:ext cx="7168872" cy="2392680"/>
          </a:xfrm>
          <a:prstGeom prst="roundRect">
            <a:avLst>
              <a:gd name="adj" fmla="val 477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8160" y="3451860"/>
            <a:ext cx="7153633" cy="579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18660" y="3585210"/>
            <a:ext cx="19541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6777633" y="3585210"/>
            <a:ext cx="138945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8471892" y="3585210"/>
            <a:ext cx="138945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10166152" y="3585210"/>
            <a:ext cx="1201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4328160" y="4625340"/>
            <a:ext cx="715363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4" name="Text 32"/>
          <p:cNvSpPr/>
          <p:nvPr/>
        </p:nvSpPr>
        <p:spPr>
          <a:xfrm>
            <a:off x="4518660" y="4191000"/>
            <a:ext cx="19541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INV-2026-0418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77633" y="416433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71892" y="416433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0166152" y="4170045"/>
            <a:ext cx="862489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38" name="Text 36"/>
          <p:cNvSpPr/>
          <p:nvPr/>
        </p:nvSpPr>
        <p:spPr>
          <a:xfrm>
            <a:off x="10280452" y="4217670"/>
            <a:ext cx="7100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Unpaid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4328160" y="5227320"/>
            <a:ext cx="715363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0" name="Text 38"/>
          <p:cNvSpPr/>
          <p:nvPr/>
        </p:nvSpPr>
        <p:spPr>
          <a:xfrm>
            <a:off x="4518660" y="4792980"/>
            <a:ext cx="19541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INV-2026-0414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6777633" y="476631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Sep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71892" y="476631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RM45,000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166152" y="4772025"/>
            <a:ext cx="629007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4" name="Text 42"/>
          <p:cNvSpPr/>
          <p:nvPr/>
        </p:nvSpPr>
        <p:spPr>
          <a:xfrm>
            <a:off x="10280452" y="4819650"/>
            <a:ext cx="4766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4328160" y="5234940"/>
            <a:ext cx="7153633" cy="5943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18660" y="5394960"/>
            <a:ext cx="19541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INV-2026-0388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6777633" y="536829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Aug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471892" y="5368290"/>
            <a:ext cx="13894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166152" y="5374005"/>
            <a:ext cx="629007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50" name="Text 48"/>
          <p:cNvSpPr/>
          <p:nvPr/>
        </p:nvSpPr>
        <p:spPr>
          <a:xfrm>
            <a:off x="10280452" y="5421630"/>
            <a:ext cx="4766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1718013" y="2929890"/>
            <a:ext cx="5514618" cy="656844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973282" y="3185160"/>
            <a:ext cx="183264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INV-2026-0418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5936516" y="3192780"/>
            <a:ext cx="111704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2026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1973282" y="3623310"/>
            <a:ext cx="500407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5" name="Text 53"/>
          <p:cNvSpPr/>
          <p:nvPr/>
        </p:nvSpPr>
        <p:spPr>
          <a:xfrm>
            <a:off x="11973282" y="3766185"/>
            <a:ext cx="26627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credits @ RM0.095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15931039" y="3766185"/>
            <a:ext cx="11225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RM9,500.00</a:t>
            </a:r>
            <a:endParaRPr lang="en-US" sz="1725" dirty="0"/>
          </a:p>
        </p:txBody>
      </p:sp>
      <p:sp>
        <p:nvSpPr>
          <p:cNvPr id="57" name="Text 55"/>
          <p:cNvSpPr/>
          <p:nvPr/>
        </p:nvSpPr>
        <p:spPr>
          <a:xfrm>
            <a:off x="11973282" y="4211955"/>
            <a:ext cx="42029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16312158" y="4211955"/>
            <a:ext cx="7414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RM0.00</a:t>
            </a:r>
            <a:endParaRPr lang="en-US" sz="1725" dirty="0"/>
          </a:p>
        </p:txBody>
      </p:sp>
      <p:sp>
        <p:nvSpPr>
          <p:cNvPr id="59" name="Shape 57"/>
          <p:cNvSpPr/>
          <p:nvPr/>
        </p:nvSpPr>
        <p:spPr>
          <a:xfrm>
            <a:off x="11973282" y="4657725"/>
            <a:ext cx="500407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0" name="Text 58"/>
          <p:cNvSpPr/>
          <p:nvPr/>
        </p:nvSpPr>
        <p:spPr>
          <a:xfrm>
            <a:off x="11973282" y="4800600"/>
            <a:ext cx="59936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950" dirty="0"/>
          </a:p>
        </p:txBody>
      </p:sp>
      <p:sp>
        <p:nvSpPr>
          <p:cNvPr id="61" name="Text 59"/>
          <p:cNvSpPr/>
          <p:nvPr/>
        </p:nvSpPr>
        <p:spPr>
          <a:xfrm>
            <a:off x="15628144" y="4800600"/>
            <a:ext cx="148413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RM9,500.00</a:t>
            </a:r>
            <a:endParaRPr lang="en-US" sz="1950" dirty="0"/>
          </a:p>
        </p:txBody>
      </p:sp>
      <p:sp>
        <p:nvSpPr>
          <p:cNvPr id="62" name="Text 60"/>
          <p:cNvSpPr/>
          <p:nvPr/>
        </p:nvSpPr>
        <p:spPr>
          <a:xfrm>
            <a:off x="11973282" y="5215890"/>
            <a:ext cx="550448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to: SMS Broadcast Sdn Bhd · Ref TOP-2026-0418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973282" y="5642610"/>
            <a:ext cx="5004078" cy="556260"/>
          </a:xfrm>
          <a:prstGeom prst="roundRect">
            <a:avLst>
              <a:gd name="adj" fmla="val 13699"/>
            </a:avLst>
          </a:prstGeom>
          <a:solidFill>
            <a:srgbClr val="1C2B4A"/>
          </a:solidFill>
          <a:ln/>
        </p:spPr>
      </p:sp>
      <p:sp>
        <p:nvSpPr>
          <p:cNvPr id="64" name="Text 62"/>
          <p:cNvSpPr/>
          <p:nvPr/>
        </p:nvSpPr>
        <p:spPr>
          <a:xfrm>
            <a:off x="12012521" y="5756910"/>
            <a:ext cx="4925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PDF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5379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504444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616839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9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13–22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1225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Dashboard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screen for client staff. Volume, delivery rate, balance and alerts for one tenant only.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portal.smsbroadcast.my/dashboard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2020" y="3501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7" name="Text 15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8896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4298692" y="2945130"/>
            <a:ext cx="322733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2026 · updated 2 min ago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4320540" y="3463290"/>
            <a:ext cx="3099435" cy="1130618"/>
          </a:xfrm>
          <a:prstGeom prst="roundRect">
            <a:avLst>
              <a:gd name="adj" fmla="val 101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6760" y="366141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today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556760" y="4015740"/>
            <a:ext cx="2889695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82"/>
              </a:lnSpc>
              <a:buNone/>
            </a:pPr>
            <a:r>
              <a:rPr lang="en-US" sz="28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38,204</a:t>
            </a:r>
            <a:endParaRPr lang="en-US" sz="2850" dirty="0"/>
          </a:p>
        </p:txBody>
      </p:sp>
      <p:sp>
        <p:nvSpPr>
          <p:cNvPr id="31" name="Shape 29"/>
          <p:cNvSpPr/>
          <p:nvPr/>
        </p:nvSpPr>
        <p:spPr>
          <a:xfrm>
            <a:off x="7591425" y="3463290"/>
            <a:ext cx="3099435" cy="1130618"/>
          </a:xfrm>
          <a:prstGeom prst="roundRect">
            <a:avLst>
              <a:gd name="adj" fmla="val 101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27645" y="366141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27645" y="4015740"/>
            <a:ext cx="2889695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82"/>
              </a:lnSpc>
              <a:buNone/>
            </a:pPr>
            <a:r>
              <a:rPr lang="en-US" sz="285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2850" dirty="0"/>
          </a:p>
        </p:txBody>
      </p:sp>
      <p:sp>
        <p:nvSpPr>
          <p:cNvPr id="34" name="Shape 32"/>
          <p:cNvSpPr/>
          <p:nvPr/>
        </p:nvSpPr>
        <p:spPr>
          <a:xfrm>
            <a:off x="10862310" y="3463290"/>
            <a:ext cx="3099435" cy="1130618"/>
          </a:xfrm>
          <a:prstGeom prst="roundRect">
            <a:avLst>
              <a:gd name="adj" fmla="val 101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98531" y="366141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status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1098531" y="4015740"/>
            <a:ext cx="2889695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82"/>
              </a:lnSpc>
              <a:buNone/>
            </a:pPr>
            <a:r>
              <a:rPr lang="en-US" sz="28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1,044</a:t>
            </a:r>
            <a:endParaRPr lang="en-US" sz="2850" dirty="0"/>
          </a:p>
        </p:txBody>
      </p:sp>
      <p:sp>
        <p:nvSpPr>
          <p:cNvPr id="37" name="Shape 35"/>
          <p:cNvSpPr/>
          <p:nvPr/>
        </p:nvSpPr>
        <p:spPr>
          <a:xfrm>
            <a:off x="14133195" y="3463290"/>
            <a:ext cx="3099435" cy="1130618"/>
          </a:xfrm>
          <a:prstGeom prst="roundRect">
            <a:avLst>
              <a:gd name="adj" fmla="val 101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369415" y="366141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4369415" y="4015740"/>
            <a:ext cx="2889695" cy="41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682"/>
              </a:lnSpc>
              <a:buNone/>
            </a:pPr>
            <a:r>
              <a:rPr lang="en-US" sz="28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482,310</a:t>
            </a:r>
            <a:endParaRPr lang="en-US" sz="2850" dirty="0"/>
          </a:p>
        </p:txBody>
      </p:sp>
      <p:sp>
        <p:nvSpPr>
          <p:cNvPr id="40" name="Shape 38"/>
          <p:cNvSpPr/>
          <p:nvPr/>
        </p:nvSpPr>
        <p:spPr>
          <a:xfrm>
            <a:off x="4320540" y="4784408"/>
            <a:ext cx="7632859" cy="4713922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5810" y="5001578"/>
            <a:ext cx="783455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by hour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4575810" y="8084582"/>
            <a:ext cx="806887" cy="746998"/>
          </a:xfrm>
          <a:custGeom>
            <a:avLst/>
            <a:gdLst/>
            <a:ahLst/>
            <a:cxnLst/>
            <a:rect l="l" t="t" r="r" b="b"/>
            <a:pathLst>
              <a:path w="806887" h="746998">
                <a:moveTo>
                  <a:pt x="57150" y="0"/>
                </a:moveTo>
                <a:lnTo>
                  <a:pt x="749737" y="0"/>
                </a:lnTo>
                <a:arcTo hR="57150" wR="57150" stAng="16200000" swAng="5400000"/>
                <a:lnTo>
                  <a:pt x="806887" y="746998"/>
                </a:lnTo>
                <a:lnTo>
                  <a:pt x="0" y="746998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477946" y="7677150"/>
            <a:ext cx="807006" cy="1154430"/>
          </a:xfrm>
          <a:custGeom>
            <a:avLst/>
            <a:gdLst/>
            <a:ahLst/>
            <a:cxnLst/>
            <a:rect l="l" t="t" r="r" b="b"/>
            <a:pathLst>
              <a:path w="807006" h="1154430">
                <a:moveTo>
                  <a:pt x="57150" y="0"/>
                </a:moveTo>
                <a:lnTo>
                  <a:pt x="749856" y="0"/>
                </a:lnTo>
                <a:arcTo hR="57150" wR="57150" stAng="16200000" swAng="5400000"/>
                <a:lnTo>
                  <a:pt x="807006" y="1154430"/>
                </a:lnTo>
                <a:lnTo>
                  <a:pt x="0" y="115443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380202" y="6862167"/>
            <a:ext cx="806887" cy="1969413"/>
          </a:xfrm>
          <a:custGeom>
            <a:avLst/>
            <a:gdLst/>
            <a:ahLst/>
            <a:cxnLst/>
            <a:rect l="l" t="t" r="r" b="b"/>
            <a:pathLst>
              <a:path w="806887" h="1969413">
                <a:moveTo>
                  <a:pt x="57150" y="0"/>
                </a:moveTo>
                <a:lnTo>
                  <a:pt x="749737" y="0"/>
                </a:lnTo>
                <a:arcTo hR="57150" wR="57150" stAng="16200000" swAng="5400000"/>
                <a:lnTo>
                  <a:pt x="806887" y="1969413"/>
                </a:lnTo>
                <a:lnTo>
                  <a:pt x="0" y="1969413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45" name="Shape 43"/>
          <p:cNvSpPr/>
          <p:nvPr/>
        </p:nvSpPr>
        <p:spPr>
          <a:xfrm>
            <a:off x="7282339" y="6250900"/>
            <a:ext cx="807006" cy="2580680"/>
          </a:xfrm>
          <a:custGeom>
            <a:avLst/>
            <a:gdLst/>
            <a:ahLst/>
            <a:cxnLst/>
            <a:rect l="l" t="t" r="r" b="b"/>
            <a:pathLst>
              <a:path w="807006" h="2580680">
                <a:moveTo>
                  <a:pt x="57150" y="0"/>
                </a:moveTo>
                <a:lnTo>
                  <a:pt x="749856" y="0"/>
                </a:lnTo>
                <a:arcTo hR="57150" wR="57150" stAng="16200000" swAng="5400000"/>
                <a:lnTo>
                  <a:pt x="807006" y="2580680"/>
                </a:lnTo>
                <a:lnTo>
                  <a:pt x="0" y="258068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6F5CD8"/>
          </a:solidFill>
          <a:ln/>
        </p:spPr>
      </p:sp>
      <p:sp>
        <p:nvSpPr>
          <p:cNvPr id="46" name="Shape 44"/>
          <p:cNvSpPr/>
          <p:nvPr/>
        </p:nvSpPr>
        <p:spPr>
          <a:xfrm>
            <a:off x="8184595" y="5707618"/>
            <a:ext cx="806887" cy="3123962"/>
          </a:xfrm>
          <a:custGeom>
            <a:avLst/>
            <a:gdLst/>
            <a:ahLst/>
            <a:cxnLst/>
            <a:rect l="l" t="t" r="r" b="b"/>
            <a:pathLst>
              <a:path w="806887" h="3123962">
                <a:moveTo>
                  <a:pt x="57150" y="0"/>
                </a:moveTo>
                <a:lnTo>
                  <a:pt x="749737" y="0"/>
                </a:lnTo>
                <a:arcTo hR="57150" wR="57150" stAng="16200000" swAng="5400000"/>
                <a:lnTo>
                  <a:pt x="806887" y="3123962"/>
                </a:lnTo>
                <a:lnTo>
                  <a:pt x="0" y="3123962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6F5CD8"/>
          </a:solidFill>
          <a:ln/>
        </p:spPr>
      </p:sp>
      <p:sp>
        <p:nvSpPr>
          <p:cNvPr id="47" name="Shape 45"/>
          <p:cNvSpPr/>
          <p:nvPr/>
        </p:nvSpPr>
        <p:spPr>
          <a:xfrm>
            <a:off x="9086731" y="6522601"/>
            <a:ext cx="807006" cy="2308979"/>
          </a:xfrm>
          <a:custGeom>
            <a:avLst/>
            <a:gdLst/>
            <a:ahLst/>
            <a:cxnLst/>
            <a:rect l="l" t="t" r="r" b="b"/>
            <a:pathLst>
              <a:path w="807006" h="2308979">
                <a:moveTo>
                  <a:pt x="57150" y="0"/>
                </a:moveTo>
                <a:lnTo>
                  <a:pt x="749856" y="0"/>
                </a:lnTo>
                <a:arcTo hR="57150" wR="57150" stAng="16200000" swAng="5400000"/>
                <a:lnTo>
                  <a:pt x="807006" y="2308979"/>
                </a:lnTo>
                <a:lnTo>
                  <a:pt x="0" y="2308979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48" name="Shape 46"/>
          <p:cNvSpPr/>
          <p:nvPr/>
        </p:nvSpPr>
        <p:spPr>
          <a:xfrm>
            <a:off x="9988987" y="7337584"/>
            <a:ext cx="806887" cy="1493996"/>
          </a:xfrm>
          <a:custGeom>
            <a:avLst/>
            <a:gdLst/>
            <a:ahLst/>
            <a:cxnLst/>
            <a:rect l="l" t="t" r="r" b="b"/>
            <a:pathLst>
              <a:path w="806887" h="1493996">
                <a:moveTo>
                  <a:pt x="57150" y="0"/>
                </a:moveTo>
                <a:lnTo>
                  <a:pt x="749737" y="0"/>
                </a:lnTo>
                <a:arcTo hR="57150" wR="57150" stAng="16200000" swAng="5400000"/>
                <a:lnTo>
                  <a:pt x="806887" y="1493996"/>
                </a:lnTo>
                <a:lnTo>
                  <a:pt x="0" y="1493996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91124" y="7812881"/>
            <a:ext cx="807006" cy="1018699"/>
          </a:xfrm>
          <a:custGeom>
            <a:avLst/>
            <a:gdLst/>
            <a:ahLst/>
            <a:cxnLst/>
            <a:rect l="l" t="t" r="r" b="b"/>
            <a:pathLst>
              <a:path w="807006" h="1018699">
                <a:moveTo>
                  <a:pt x="57150" y="0"/>
                </a:moveTo>
                <a:lnTo>
                  <a:pt x="749856" y="0"/>
                </a:lnTo>
                <a:arcTo hR="57150" wR="57150" stAng="16200000" swAng="5400000"/>
                <a:lnTo>
                  <a:pt x="807006" y="1018699"/>
                </a:lnTo>
                <a:lnTo>
                  <a:pt x="0" y="1018699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50" name="Text 48"/>
          <p:cNvSpPr/>
          <p:nvPr/>
        </p:nvSpPr>
        <p:spPr>
          <a:xfrm>
            <a:off x="4575810" y="8983980"/>
            <a:ext cx="5450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6793587" y="8983980"/>
            <a:ext cx="5450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9011484" y="8983980"/>
            <a:ext cx="5450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16:00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229261" y="8983980"/>
            <a:ext cx="5450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20:00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12143899" y="4784408"/>
            <a:ext cx="5088612" cy="4713922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399169" y="5001578"/>
            <a:ext cx="50358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2399169" y="5416868"/>
            <a:ext cx="4578072" cy="851535"/>
          </a:xfrm>
          <a:prstGeom prst="roundRect">
            <a:avLst>
              <a:gd name="adj" fmla="val 8949"/>
            </a:avLst>
          </a:prstGeom>
          <a:solidFill>
            <a:srgbClr val="FFF7E6"/>
          </a:solidFill>
          <a:ln w="7620">
            <a:solidFill>
              <a:srgbClr val="FFD9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540139" y="5557838"/>
            <a:ext cx="4433474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58"/>
              </a:lnSpc>
              <a:buNone/>
            </a:pPr>
            <a:r>
              <a:rPr lang="en-US" sz="1725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covers about 14 days at current volume.</a:t>
            </a:r>
            <a:endParaRPr lang="en-US" sz="1725" dirty="0"/>
          </a:p>
        </p:txBody>
      </p:sp>
      <p:sp>
        <p:nvSpPr>
          <p:cNvPr id="58" name="Shape 56"/>
          <p:cNvSpPr/>
          <p:nvPr/>
        </p:nvSpPr>
        <p:spPr>
          <a:xfrm>
            <a:off x="12399169" y="6401753"/>
            <a:ext cx="4578072" cy="566738"/>
          </a:xfrm>
          <a:prstGeom prst="roundRect">
            <a:avLst>
              <a:gd name="adj" fmla="val 13445"/>
            </a:avLst>
          </a:prstGeom>
          <a:solidFill>
            <a:srgbClr val="FDF1EF"/>
          </a:solidFill>
          <a:ln w="7620">
            <a:solidFill>
              <a:srgbClr val="F0C2B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540139" y="6542723"/>
            <a:ext cx="4433474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58"/>
              </a:lnSpc>
              <a:buNone/>
            </a:pPr>
            <a:r>
              <a:rPr lang="en-US" sz="1725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failed messages in the last 7 days.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12399169" y="7101840"/>
            <a:ext cx="4578072" cy="836295"/>
          </a:xfrm>
          <a:prstGeom prst="roundRect">
            <a:avLst>
              <a:gd name="adj" fmla="val 9112"/>
            </a:avLst>
          </a:prstGeom>
          <a:solidFill>
            <a:srgbClr val="F4F6F9"/>
          </a:solidFill>
          <a:ln/>
        </p:spPr>
      </p:sp>
      <p:sp>
        <p:nvSpPr>
          <p:cNvPr id="61" name="Text 59"/>
          <p:cNvSpPr/>
          <p:nvPr/>
        </p:nvSpPr>
        <p:spPr>
          <a:xfrm>
            <a:off x="12532519" y="7235190"/>
            <a:ext cx="4448714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58"/>
              </a:lnSpc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"Raya statement reminder" is 78% dispatched.</a:t>
            </a:r>
            <a:endParaRPr lang="en-US" sz="17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762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message, paste phone numbers, send. For small ad-hoc sends without setting up a campaign.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portal.smsbroadcast.my/quick-send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922020" y="41681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420329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320540" y="3444240"/>
            <a:ext cx="7179588" cy="295275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6760" y="3642360"/>
            <a:ext cx="98774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29644" y="3642360"/>
            <a:ext cx="39976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per line or comma separated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556760" y="4034790"/>
            <a:ext cx="6707148" cy="1771650"/>
          </a:xfrm>
          <a:prstGeom prst="roundRect">
            <a:avLst>
              <a:gd name="adj" fmla="val 4301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6780" y="4175760"/>
            <a:ext cx="6588323" cy="1527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106"/>
              </a:lnSpc>
              <a:buNone/>
            </a:pPr>
            <a:r>
              <a:rPr lang="en-US" sz="1725" dirty="0">
                <a:solidFill>
                  <a:srgbClr val="2C3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+60123456781 +60198765404 +60173344527 +60112298855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4556760" y="5901690"/>
            <a:ext cx="737786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valid numbers detected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4320540" y="6549390"/>
            <a:ext cx="7179588" cy="212598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6760" y="6747510"/>
            <a:ext cx="8204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43574" y="6747510"/>
            <a:ext cx="189236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 MBB-OTP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4556760" y="7139940"/>
            <a:ext cx="6707148" cy="944880"/>
          </a:xfrm>
          <a:prstGeom prst="roundRect">
            <a:avLst>
              <a:gd name="adj" fmla="val 806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6780" y="7280910"/>
            <a:ext cx="6588323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your appointment at Maybank Jalan Ampang is tomorrow at 10:00 AM.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56760" y="8180070"/>
            <a:ext cx="12400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characters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911096" y="8180070"/>
            <a:ext cx="91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944916" y="8180070"/>
            <a:ext cx="584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709678" y="3444240"/>
            <a:ext cx="5522952" cy="2636520"/>
          </a:xfrm>
          <a:prstGeom prst="roundRect">
            <a:avLst>
              <a:gd name="adj" fmla="val 433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945898" y="3642360"/>
            <a:ext cx="555556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11945898" y="4427220"/>
            <a:ext cx="505051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4" name="Text 42"/>
          <p:cNvSpPr/>
          <p:nvPr/>
        </p:nvSpPr>
        <p:spPr>
          <a:xfrm>
            <a:off x="11945898" y="4038600"/>
            <a:ext cx="102917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6884015" y="4038600"/>
            <a:ext cx="1885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25" dirty="0"/>
          </a:p>
        </p:txBody>
      </p:sp>
      <p:sp>
        <p:nvSpPr>
          <p:cNvPr id="46" name="Shape 44"/>
          <p:cNvSpPr/>
          <p:nvPr/>
        </p:nvSpPr>
        <p:spPr>
          <a:xfrm>
            <a:off x="11945898" y="4937760"/>
            <a:ext cx="505051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11945898" y="4549140"/>
            <a:ext cx="161942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required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6884015" y="4549140"/>
            <a:ext cx="1885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25" dirty="0"/>
          </a:p>
        </p:txBody>
      </p:sp>
      <p:sp>
        <p:nvSpPr>
          <p:cNvPr id="49" name="Shape 47"/>
          <p:cNvSpPr/>
          <p:nvPr/>
        </p:nvSpPr>
        <p:spPr>
          <a:xfrm>
            <a:off x="11945898" y="5448300"/>
            <a:ext cx="505051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0" name="Text 48"/>
          <p:cNvSpPr/>
          <p:nvPr/>
        </p:nvSpPr>
        <p:spPr>
          <a:xfrm>
            <a:off x="11945898" y="5059680"/>
            <a:ext cx="11941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lane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15747206" y="5059680"/>
            <a:ext cx="137412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11945898" y="5570220"/>
            <a:ext cx="184914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after send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16261795" y="5570220"/>
            <a:ext cx="81081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482,306</a:t>
            </a:r>
            <a:endParaRPr lang="en-US" sz="1725" dirty="0"/>
          </a:p>
        </p:txBody>
      </p:sp>
      <p:sp>
        <p:nvSpPr>
          <p:cNvPr id="54" name="Shape 52"/>
          <p:cNvSpPr/>
          <p:nvPr/>
        </p:nvSpPr>
        <p:spPr>
          <a:xfrm>
            <a:off x="11709678" y="6233160"/>
            <a:ext cx="5522952" cy="219837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945898" y="6431280"/>
            <a:ext cx="555556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1945898" y="6808470"/>
            <a:ext cx="5050512" cy="1424940"/>
          </a:xfrm>
          <a:prstGeom prst="roundRect">
            <a:avLst>
              <a:gd name="adj" fmla="val 6684"/>
            </a:avLst>
          </a:prstGeom>
          <a:solidFill>
            <a:srgbClr val="EEF1F6"/>
          </a:solidFill>
          <a:ln/>
        </p:spPr>
      </p:sp>
      <p:sp>
        <p:nvSpPr>
          <p:cNvPr id="57" name="Text 55"/>
          <p:cNvSpPr/>
          <p:nvPr/>
        </p:nvSpPr>
        <p:spPr>
          <a:xfrm>
            <a:off x="12079248" y="6941820"/>
            <a:ext cx="52621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MBB-OTP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12079248" y="7284720"/>
            <a:ext cx="4783812" cy="81534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2212598" y="7399020"/>
            <a:ext cx="4660627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your appointment at Maybank Jalan Ampang is tomorrow at 10:00 AM.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1709678" y="8583930"/>
            <a:ext cx="4050387" cy="624840"/>
          </a:xfrm>
          <a:prstGeom prst="roundRect">
            <a:avLst>
              <a:gd name="adj" fmla="val 12195"/>
            </a:avLst>
          </a:prstGeom>
          <a:solidFill>
            <a:srgbClr val="1C2B4A"/>
          </a:solidFill>
          <a:ln/>
        </p:spPr>
      </p:sp>
      <p:sp>
        <p:nvSpPr>
          <p:cNvPr id="61" name="Text 59"/>
          <p:cNvSpPr/>
          <p:nvPr/>
        </p:nvSpPr>
        <p:spPr>
          <a:xfrm>
            <a:off x="11782272" y="8717280"/>
            <a:ext cx="390519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now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5874365" y="8583930"/>
            <a:ext cx="1358265" cy="62484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091535" y="8724900"/>
            <a:ext cx="10001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8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4118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List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bulk campaigns with their state, recipient count and delivery summary.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3017520"/>
            <a:ext cx="169591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3798273" y="2929890"/>
            <a:ext cx="1290399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96393" y="3032760"/>
            <a:ext cx="97035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all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5202972" y="2929890"/>
            <a:ext cx="2029659" cy="518160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15412522" y="3025140"/>
            <a:ext cx="168675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campaign +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20540" y="3638550"/>
            <a:ext cx="12912090" cy="3032760"/>
          </a:xfrm>
          <a:prstGeom prst="roundRect">
            <a:avLst>
              <a:gd name="adj" fmla="val 376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18660" y="3798570"/>
            <a:ext cx="332096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8112800" y="3798570"/>
            <a:ext cx="159805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015657" y="3798570"/>
            <a:ext cx="138660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1707059" y="3798570"/>
            <a:ext cx="159793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3609796" y="3798570"/>
            <a:ext cx="159805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5512653" y="3798570"/>
            <a:ext cx="159793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4328160" y="48577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0" name="Text 38"/>
          <p:cNvSpPr/>
          <p:nvPr/>
        </p:nvSpPr>
        <p:spPr>
          <a:xfrm>
            <a:off x="4518660" y="4396740"/>
            <a:ext cx="332096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112800" y="439674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hafiz.aziz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15657" y="439674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1707059" y="4396740"/>
            <a:ext cx="15979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21,086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609796" y="439674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719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512653" y="4402455"/>
            <a:ext cx="962739" cy="323850"/>
          </a:xfrm>
          <a:prstGeom prst="roundRect">
            <a:avLst>
              <a:gd name="adj" fmla="val 17647"/>
            </a:avLst>
          </a:prstGeom>
          <a:solidFill>
            <a:srgbClr val="D8D3F6"/>
          </a:solidFill>
          <a:ln/>
        </p:spPr>
      </p:sp>
      <p:sp>
        <p:nvSpPr>
          <p:cNvPr id="46" name="Text 44"/>
          <p:cNvSpPr/>
          <p:nvPr/>
        </p:nvSpPr>
        <p:spPr>
          <a:xfrm>
            <a:off x="15626953" y="4450080"/>
            <a:ext cx="8103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F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</a:t>
            </a:r>
            <a:endParaRPr lang="en-US" sz="1575" dirty="0"/>
          </a:p>
        </p:txBody>
      </p:sp>
      <p:sp>
        <p:nvSpPr>
          <p:cNvPr id="47" name="Shape 45"/>
          <p:cNvSpPr/>
          <p:nvPr/>
        </p:nvSpPr>
        <p:spPr>
          <a:xfrm>
            <a:off x="4328160" y="545973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8" name="Text 46"/>
          <p:cNvSpPr/>
          <p:nvPr/>
        </p:nvSpPr>
        <p:spPr>
          <a:xfrm>
            <a:off x="4518660" y="4998720"/>
            <a:ext cx="332096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renewal notice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112800" y="499872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hafiz.aziz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015657" y="499872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707059" y="4998720"/>
            <a:ext cx="15979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11,540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3609796" y="499872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512653" y="5004435"/>
            <a:ext cx="1195983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54" name="Text 52"/>
          <p:cNvSpPr/>
          <p:nvPr/>
        </p:nvSpPr>
        <p:spPr>
          <a:xfrm>
            <a:off x="15626953" y="5052060"/>
            <a:ext cx="10435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4328160" y="606171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6" name="Text 54"/>
          <p:cNvSpPr/>
          <p:nvPr/>
        </p:nvSpPr>
        <p:spPr>
          <a:xfrm>
            <a:off x="4518660" y="5600700"/>
            <a:ext cx="332096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closure notice — Johor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8112800" y="560070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siti.rahman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015657" y="560070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4,310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707059" y="5600700"/>
            <a:ext cx="15979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3609796" y="560070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512653" y="5606415"/>
            <a:ext cx="1173956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62" name="Text 60"/>
          <p:cNvSpPr/>
          <p:nvPr/>
        </p:nvSpPr>
        <p:spPr>
          <a:xfrm>
            <a:off x="15626953" y="5654040"/>
            <a:ext cx="10215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575" dirty="0"/>
          </a:p>
        </p:txBody>
      </p:sp>
      <p:sp>
        <p:nvSpPr>
          <p:cNvPr id="63" name="Shape 61"/>
          <p:cNvSpPr/>
          <p:nvPr/>
        </p:nvSpPr>
        <p:spPr>
          <a:xfrm>
            <a:off x="4328160" y="6069330"/>
            <a:ext cx="12896850" cy="5943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64" name="Text 62"/>
          <p:cNvSpPr/>
          <p:nvPr/>
        </p:nvSpPr>
        <p:spPr>
          <a:xfrm>
            <a:off x="4518660" y="6202680"/>
            <a:ext cx="332096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deposit promo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8112800" y="620268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hafiz.aziz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015657" y="6202680"/>
            <a:ext cx="138660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31,884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707059" y="6202680"/>
            <a:ext cx="15979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609796" y="6202680"/>
            <a:ext cx="159805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512653" y="6208395"/>
            <a:ext cx="662107" cy="323850"/>
          </a:xfrm>
          <a:prstGeom prst="roundRect">
            <a:avLst>
              <a:gd name="adj" fmla="val 17647"/>
            </a:avLst>
          </a:prstGeom>
          <a:solidFill>
            <a:srgbClr val="E4E7EE"/>
          </a:solidFill>
          <a:ln/>
        </p:spPr>
      </p:sp>
      <p:sp>
        <p:nvSpPr>
          <p:cNvPr id="70" name="Text 68"/>
          <p:cNvSpPr/>
          <p:nvPr/>
        </p:nvSpPr>
        <p:spPr>
          <a:xfrm>
            <a:off x="15626953" y="6256020"/>
            <a:ext cx="5097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575" dirty="0"/>
          </a:p>
        </p:txBody>
      </p:sp>
      <p:sp>
        <p:nvSpPr>
          <p:cNvPr id="71" name="Text 69"/>
          <p:cNvSpPr/>
          <p:nvPr/>
        </p:nvSpPr>
        <p:spPr>
          <a:xfrm>
            <a:off x="4320540" y="6861810"/>
            <a:ext cx="142032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 to 4 of 27 campaigns</a:t>
            </a:r>
            <a:endParaRPr lang="en-US" sz="17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74277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Templates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message bodies with placeholders such as {name} or {amount}, reusable across campaigns.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portal.smsbroadcast.my/campaigns/templates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0540" y="3406140"/>
            <a:ext cx="1291209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27" name="Text 25"/>
          <p:cNvSpPr/>
          <p:nvPr/>
        </p:nvSpPr>
        <p:spPr>
          <a:xfrm>
            <a:off x="4320540" y="2929890"/>
            <a:ext cx="11874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679400" y="3411855"/>
            <a:ext cx="1085374" cy="2286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29" name="Text 27"/>
          <p:cNvSpPr/>
          <p:nvPr/>
        </p:nvSpPr>
        <p:spPr>
          <a:xfrm>
            <a:off x="5679400" y="2929890"/>
            <a:ext cx="1161574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4320540" y="3661410"/>
            <a:ext cx="14326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9162574" y="3566160"/>
            <a:ext cx="1952268" cy="518160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9372124" y="3661410"/>
            <a:ext cx="16093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template +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320540" y="4217670"/>
            <a:ext cx="6794302" cy="4080510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8160" y="4225290"/>
            <a:ext cx="6779062" cy="54483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5" name="Text 33"/>
          <p:cNvSpPr/>
          <p:nvPr/>
        </p:nvSpPr>
        <p:spPr>
          <a:xfrm>
            <a:off x="4499610" y="4349115"/>
            <a:ext cx="18902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656547" y="4349115"/>
            <a:ext cx="173616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659416" y="4349115"/>
            <a:ext cx="965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891951" y="4349115"/>
            <a:ext cx="112002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used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328160" y="4770120"/>
            <a:ext cx="6779062" cy="76962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328160" y="5532120"/>
            <a:ext cx="677906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9"/>
          <p:cNvSpPr/>
          <p:nvPr/>
        </p:nvSpPr>
        <p:spPr>
          <a:xfrm>
            <a:off x="4499610" y="4994910"/>
            <a:ext cx="18902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ready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6656547" y="4884420"/>
            <a:ext cx="17361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 {month}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8659416" y="4994910"/>
            <a:ext cx="965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9891951" y="4994910"/>
            <a:ext cx="11200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4328160" y="6568440"/>
            <a:ext cx="677906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6" name="Text 44"/>
          <p:cNvSpPr/>
          <p:nvPr/>
        </p:nvSpPr>
        <p:spPr>
          <a:xfrm>
            <a:off x="4499610" y="5741670"/>
            <a:ext cx="189023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due reminder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6656547" y="5654040"/>
            <a:ext cx="173616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 {amount} {due_date}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8659416" y="5897880"/>
            <a:ext cx="965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9891951" y="5897880"/>
            <a:ext cx="11200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Sep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4328160" y="7429500"/>
            <a:ext cx="677906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1" name="Text 49"/>
          <p:cNvSpPr/>
          <p:nvPr/>
        </p:nvSpPr>
        <p:spPr>
          <a:xfrm>
            <a:off x="4499610" y="6690360"/>
            <a:ext cx="189023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renewal notice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6656547" y="6736080"/>
            <a:ext cx="17361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 {card_last4}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8659416" y="6846570"/>
            <a:ext cx="965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9891951" y="6846570"/>
            <a:ext cx="11200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Aug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4499610" y="7551420"/>
            <a:ext cx="1890236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closure notice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6656547" y="7597140"/>
            <a:ext cx="17361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{branch} {date}</a:t>
            </a:r>
            <a:endParaRPr lang="en-US" sz="1575" dirty="0"/>
          </a:p>
        </p:txBody>
      </p:sp>
      <p:sp>
        <p:nvSpPr>
          <p:cNvPr id="57" name="Text 55"/>
          <p:cNvSpPr/>
          <p:nvPr/>
        </p:nvSpPr>
        <p:spPr>
          <a:xfrm>
            <a:off x="8659416" y="7707630"/>
            <a:ext cx="96583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9891951" y="7707630"/>
            <a:ext cx="112002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Aug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11324391" y="3566160"/>
            <a:ext cx="649893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template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11324391" y="4027170"/>
            <a:ext cx="5908120" cy="5151120"/>
          </a:xfrm>
          <a:prstGeom prst="roundRect">
            <a:avLst>
              <a:gd name="adj" fmla="val 2219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560612" y="4225290"/>
            <a:ext cx="369515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name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1560612" y="4579620"/>
            <a:ext cx="3359230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701582" y="4682490"/>
            <a:ext cx="317806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due reminder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5091292" y="4225290"/>
            <a:ext cx="20955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5091292" y="4579620"/>
            <a:ext cx="1905000" cy="510540"/>
          </a:xfrm>
          <a:prstGeom prst="roundRect">
            <a:avLst>
              <a:gd name="adj" fmla="val 1492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232262" y="4682490"/>
            <a:ext cx="16992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MAYBANK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1560612" y="5227320"/>
            <a:ext cx="597924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body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1560612" y="5638800"/>
            <a:ext cx="5435679" cy="1276350"/>
          </a:xfrm>
          <a:prstGeom prst="roundRect">
            <a:avLst>
              <a:gd name="adj" fmla="val 5970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720632" y="5779770"/>
            <a:ext cx="527871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</a:t>
            </a:r>
            <a:pPr algn="l" indent="0" marL="0">
              <a:lnSpc>
                <a:spcPct val="127941"/>
              </a:lnSpc>
              <a:buNone/>
            </a:pPr>
            <a:r>
              <a:rPr lang="en-US" sz="1650" dirty="0">
                <a:solidFill>
                  <a:srgbClr val="2C3A54"/>
                </a:solidFill>
                <a:highlight>
                  <a:srgbClr val="E7E2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</a:t>
            </a:r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your payment of RM</a:t>
            </a:r>
            <a:pPr algn="l" indent="0" marL="0">
              <a:lnSpc>
                <a:spcPct val="127941"/>
              </a:lnSpc>
              <a:buNone/>
            </a:pPr>
            <a:r>
              <a:rPr lang="en-US" sz="1650" dirty="0">
                <a:solidFill>
                  <a:srgbClr val="2C3A54"/>
                </a:solidFill>
                <a:highlight>
                  <a:srgbClr val="E7E2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{amount} </a:t>
            </a:r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due on </a:t>
            </a:r>
            <a:pPr algn="l" indent="0" marL="0">
              <a:lnSpc>
                <a:spcPct val="127941"/>
              </a:lnSpc>
              <a:buNone/>
            </a:pPr>
            <a:r>
              <a:rPr lang="en-US" sz="1650" dirty="0">
                <a:solidFill>
                  <a:srgbClr val="2C3A54"/>
                </a:solidFill>
                <a:highlight>
                  <a:srgbClr val="E7E2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{due_date} </a:t>
            </a:r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Pay via the app to avoid a late charge.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1560612" y="7075170"/>
            <a:ext cx="17505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placeholder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13247251" y="7029450"/>
            <a:ext cx="1021080" cy="388620"/>
          </a:xfrm>
          <a:prstGeom prst="roundRect">
            <a:avLst>
              <a:gd name="adj" fmla="val 14706"/>
            </a:avLst>
          </a:prstGeom>
          <a:solidFill>
            <a:srgbClr val="EEF1F6"/>
          </a:solidFill>
          <a:ln/>
        </p:spPr>
      </p:sp>
      <p:sp>
        <p:nvSpPr>
          <p:cNvPr id="72" name="Text 70"/>
          <p:cNvSpPr/>
          <p:nvPr/>
        </p:nvSpPr>
        <p:spPr>
          <a:xfrm>
            <a:off x="13380601" y="7086600"/>
            <a:ext cx="8305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</a:t>
            </a:r>
            <a:endParaRPr lang="en-US" sz="1650" dirty="0"/>
          </a:p>
        </p:txBody>
      </p:sp>
      <p:sp>
        <p:nvSpPr>
          <p:cNvPr id="73" name="Shape 71"/>
          <p:cNvSpPr/>
          <p:nvPr/>
        </p:nvSpPr>
        <p:spPr>
          <a:xfrm>
            <a:off x="14363581" y="7029450"/>
            <a:ext cx="1272540" cy="388620"/>
          </a:xfrm>
          <a:prstGeom prst="roundRect">
            <a:avLst>
              <a:gd name="adj" fmla="val 14706"/>
            </a:avLst>
          </a:prstGeom>
          <a:solidFill>
            <a:srgbClr val="EEF1F6"/>
          </a:solidFill>
          <a:ln/>
        </p:spPr>
      </p:sp>
      <p:sp>
        <p:nvSpPr>
          <p:cNvPr id="74" name="Text 72"/>
          <p:cNvSpPr/>
          <p:nvPr/>
        </p:nvSpPr>
        <p:spPr>
          <a:xfrm>
            <a:off x="14496931" y="7086600"/>
            <a:ext cx="108204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{amount}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1560612" y="7513320"/>
            <a:ext cx="1524000" cy="388620"/>
          </a:xfrm>
          <a:prstGeom prst="roundRect">
            <a:avLst>
              <a:gd name="adj" fmla="val 14706"/>
            </a:avLst>
          </a:prstGeom>
          <a:solidFill>
            <a:srgbClr val="EEF1F6"/>
          </a:solidFill>
          <a:ln/>
        </p:spPr>
      </p:sp>
      <p:sp>
        <p:nvSpPr>
          <p:cNvPr id="76" name="Text 74"/>
          <p:cNvSpPr/>
          <p:nvPr/>
        </p:nvSpPr>
        <p:spPr>
          <a:xfrm>
            <a:off x="11693962" y="7570470"/>
            <a:ext cx="13335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{due_date}</a:t>
            </a:r>
            <a:endParaRPr lang="en-US" sz="1650" dirty="0"/>
          </a:p>
        </p:txBody>
      </p:sp>
      <p:sp>
        <p:nvSpPr>
          <p:cNvPr id="77" name="Shape 75"/>
          <p:cNvSpPr/>
          <p:nvPr/>
        </p:nvSpPr>
        <p:spPr>
          <a:xfrm>
            <a:off x="13179862" y="7513320"/>
            <a:ext cx="1775460" cy="388620"/>
          </a:xfrm>
          <a:prstGeom prst="roundRect">
            <a:avLst>
              <a:gd name="adj" fmla="val 14706"/>
            </a:avLst>
          </a:prstGeom>
          <a:solidFill>
            <a:srgbClr val="EEF1F6"/>
          </a:solidFill>
          <a:ln/>
        </p:spPr>
      </p:sp>
      <p:sp>
        <p:nvSpPr>
          <p:cNvPr id="78" name="Text 76"/>
          <p:cNvSpPr/>
          <p:nvPr/>
        </p:nvSpPr>
        <p:spPr>
          <a:xfrm>
            <a:off x="13313212" y="7570470"/>
            <a:ext cx="15849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{card_last4}</a:t>
            </a:r>
            <a:endParaRPr lang="en-US" sz="1650" dirty="0"/>
          </a:p>
        </p:txBody>
      </p:sp>
      <p:sp>
        <p:nvSpPr>
          <p:cNvPr id="79" name="Text 77"/>
          <p:cNvSpPr/>
          <p:nvPr/>
        </p:nvSpPr>
        <p:spPr>
          <a:xfrm>
            <a:off x="11560612" y="8016240"/>
            <a:ext cx="32782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characters with sample values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14731365" y="8016240"/>
            <a:ext cx="91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5765185" y="8016240"/>
            <a:ext cx="584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</a:t>
            </a:r>
            <a:endParaRPr lang="en-US" sz="1650" dirty="0"/>
          </a:p>
        </p:txBody>
      </p:sp>
      <p:sp>
        <p:nvSpPr>
          <p:cNvPr id="82" name="Shape 80"/>
          <p:cNvSpPr/>
          <p:nvPr/>
        </p:nvSpPr>
        <p:spPr>
          <a:xfrm>
            <a:off x="11560612" y="8427720"/>
            <a:ext cx="1860590" cy="552450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/>
        </p:spPr>
      </p:sp>
      <p:sp>
        <p:nvSpPr>
          <p:cNvPr id="83" name="Text 81"/>
          <p:cNvSpPr/>
          <p:nvPr/>
        </p:nvSpPr>
        <p:spPr>
          <a:xfrm>
            <a:off x="11789212" y="8532495"/>
            <a:ext cx="14795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template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3535502" y="8427720"/>
            <a:ext cx="119753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52672" y="8540115"/>
            <a:ext cx="83939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8793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Campaign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content with a live character counter, encoding detection and part count.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portal.smsbroadcast.my/campaigns/new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25741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Compose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5692259" y="2929890"/>
            <a:ext cx="123646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Recipients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7043023" y="2929890"/>
            <a:ext cx="14354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Merge fields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8538448" y="2929890"/>
            <a:ext cx="9395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4320540" y="3394710"/>
            <a:ext cx="7168872" cy="203454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5810" y="3611880"/>
            <a:ext cx="1771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name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4575810" y="3985260"/>
            <a:ext cx="1610082" cy="1226820"/>
          </a:xfrm>
          <a:prstGeom prst="roundRect">
            <a:avLst>
              <a:gd name="adj" fmla="val 6211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5830" y="4107180"/>
            <a:ext cx="1366242" cy="102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76392" y="3611880"/>
            <a:ext cx="31432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376392" y="3985260"/>
            <a:ext cx="2857500" cy="571500"/>
          </a:xfrm>
          <a:prstGeom prst="roundRect">
            <a:avLst>
              <a:gd name="adj" fmla="val 13333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6412" y="4107180"/>
            <a:ext cx="262318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ready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424392" y="3611880"/>
            <a:ext cx="19907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9424392" y="3985260"/>
            <a:ext cx="1809750" cy="548640"/>
          </a:xfrm>
          <a:prstGeom prst="roundRect">
            <a:avLst>
              <a:gd name="adj" fmla="val 13889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84412" y="4107180"/>
            <a:ext cx="15659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MBB-OTP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320540" y="5581650"/>
            <a:ext cx="7168872" cy="224028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5810" y="5798820"/>
            <a:ext cx="8204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599158" y="5798820"/>
            <a:ext cx="50984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from template · placeholders {name} {month}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4575810" y="6210300"/>
            <a:ext cx="6658333" cy="982980"/>
          </a:xfrm>
          <a:prstGeom prst="roundRect">
            <a:avLst>
              <a:gd name="adj" fmla="val 7752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5830" y="6370320"/>
            <a:ext cx="6538043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180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customer, your statement for Sep 2026 is ready. View it in the app or at maybank2u.com.my. Do not share your TAC with anyone.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75810" y="7307580"/>
            <a:ext cx="13948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characters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6034326" y="7307580"/>
            <a:ext cx="91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7068145" y="7307580"/>
            <a:ext cx="584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7767281" y="7307580"/>
            <a:ext cx="271288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characters left in this part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718013" y="2929890"/>
            <a:ext cx="6066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4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11718013" y="3394710"/>
            <a:ext cx="5514618" cy="2975610"/>
          </a:xfrm>
          <a:prstGeom prst="roundRect">
            <a:avLst>
              <a:gd name="adj" fmla="val 384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973282" y="3611880"/>
            <a:ext cx="550448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1973282" y="4027170"/>
            <a:ext cx="5004078" cy="2125980"/>
          </a:xfrm>
          <a:prstGeom prst="roundRect">
            <a:avLst>
              <a:gd name="adj" fmla="val 5376"/>
            </a:avLst>
          </a:prstGeom>
          <a:solidFill>
            <a:srgbClr val="EEF1F6"/>
          </a:solidFill>
          <a:ln/>
        </p:spPr>
      </p:sp>
      <p:sp>
        <p:nvSpPr>
          <p:cNvPr id="53" name="Text 51"/>
          <p:cNvSpPr/>
          <p:nvPr/>
        </p:nvSpPr>
        <p:spPr>
          <a:xfrm>
            <a:off x="12144732" y="4198620"/>
            <a:ext cx="5127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MBB-OTP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2144732" y="4541520"/>
            <a:ext cx="4661178" cy="1440180"/>
          </a:xfrm>
          <a:prstGeom prst="roundRect">
            <a:avLst>
              <a:gd name="adj" fmla="val 6614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2297132" y="4674870"/>
            <a:ext cx="4496213" cy="1211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312"/>
              </a:lnSpc>
              <a:buNone/>
            </a:pPr>
            <a:r>
              <a:rPr lang="en-US" sz="165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customer, your statement for Sep 2026 is ready. View it in the app or at maybank2u.com.my. Do not share your TAC with anyone.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718013" y="6522720"/>
            <a:ext cx="5514618" cy="2164080"/>
          </a:xfrm>
          <a:prstGeom prst="roundRect">
            <a:avLst>
              <a:gd name="adj" fmla="val 528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973282" y="6739890"/>
            <a:ext cx="550448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1973282" y="7524750"/>
            <a:ext cx="500407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9" name="Text 57"/>
          <p:cNvSpPr/>
          <p:nvPr/>
        </p:nvSpPr>
        <p:spPr>
          <a:xfrm>
            <a:off x="11973282" y="7136130"/>
            <a:ext cx="89618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16070581" y="7136130"/>
            <a:ext cx="9829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</a:t>
            </a:r>
            <a:endParaRPr lang="en-US" sz="1725" dirty="0"/>
          </a:p>
        </p:txBody>
      </p:sp>
      <p:sp>
        <p:nvSpPr>
          <p:cNvPr id="61" name="Shape 59"/>
          <p:cNvSpPr/>
          <p:nvPr/>
        </p:nvSpPr>
        <p:spPr>
          <a:xfrm>
            <a:off x="11973282" y="8035290"/>
            <a:ext cx="500407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2" name="Text 60"/>
          <p:cNvSpPr/>
          <p:nvPr/>
        </p:nvSpPr>
        <p:spPr>
          <a:xfrm>
            <a:off x="11973282" y="7646670"/>
            <a:ext cx="136770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per part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15610284" y="7646670"/>
            <a:ext cx="150378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characters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11973282" y="8157210"/>
            <a:ext cx="204114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per recipient</a:t>
            </a:r>
            <a:endParaRPr lang="en-US" sz="1725" dirty="0"/>
          </a:p>
        </p:txBody>
      </p:sp>
      <p:sp>
        <p:nvSpPr>
          <p:cNvPr id="65" name="Text 63"/>
          <p:cNvSpPr/>
          <p:nvPr/>
        </p:nvSpPr>
        <p:spPr>
          <a:xfrm>
            <a:off x="16864965" y="8157210"/>
            <a:ext cx="18859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03960"/>
            <a:ext cx="1802130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and Character Limits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179320"/>
            <a:ext cx="1571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22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SMS message format is limited to 160 characters using the GSM 7-bit encoding.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2922270"/>
            <a:ext cx="5283161" cy="5219700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8134350"/>
            <a:ext cx="5283161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2922270"/>
            <a:ext cx="5283161" cy="5334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2922270"/>
            <a:ext cx="9525" cy="521970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9" name="Shape 7"/>
          <p:cNvSpPr/>
          <p:nvPr/>
        </p:nvSpPr>
        <p:spPr>
          <a:xfrm>
            <a:off x="6228041" y="2922270"/>
            <a:ext cx="9525" cy="521970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0" name="Text 8"/>
          <p:cNvSpPr/>
          <p:nvPr/>
        </p:nvSpPr>
        <p:spPr>
          <a:xfrm>
            <a:off x="1283970" y="3280410"/>
            <a:ext cx="50822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 encoding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83970" y="3760470"/>
            <a:ext cx="50822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45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1283970" y="4484370"/>
            <a:ext cx="4758827" cy="111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up to 160 characters for a single message. This includes standard Latin letters, numbers, and basic symbols.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502361" y="2922270"/>
            <a:ext cx="5283161" cy="5219700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2361" y="8134350"/>
            <a:ext cx="5283161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2361" y="2922270"/>
            <a:ext cx="5283161" cy="53340"/>
          </a:xfrm>
          <a:prstGeom prst="rect">
            <a:avLst/>
          </a:prstGeom>
          <a:solidFill>
            <a:srgbClr val="8A5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502361" y="2922270"/>
            <a:ext cx="9525" cy="521970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77901" y="2922270"/>
            <a:ext cx="9525" cy="521970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33831" y="3280410"/>
            <a:ext cx="50822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Unicode (16-bit) encoding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833831" y="3760470"/>
            <a:ext cx="50822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45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4500" dirty="0"/>
          </a:p>
        </p:txBody>
      </p:sp>
      <p:sp>
        <p:nvSpPr>
          <p:cNvPr id="20" name="Text 18"/>
          <p:cNvSpPr/>
          <p:nvPr/>
        </p:nvSpPr>
        <p:spPr>
          <a:xfrm>
            <a:off x="6833831" y="4484370"/>
            <a:ext cx="4758827" cy="1474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triggers if you use emojis, non-Latin alphabets, or special accents. This reduces the single message limit to 70 characters.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052221" y="2922270"/>
            <a:ext cx="5283161" cy="5219700"/>
          </a:xfrm>
          <a:prstGeom prst="roundRect">
            <a:avLst>
              <a:gd name="adj" fmla="val 2555"/>
            </a:avLst>
          </a:prstGeom>
          <a:solidFill>
            <a:srgbClr val="1C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12376071" y="3227070"/>
            <a:ext cx="509900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376071" y="3707130"/>
            <a:ext cx="5099006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09"/>
              </a:lnSpc>
              <a:buNone/>
            </a:pPr>
            <a:r>
              <a:rPr lang="en-US" sz="4500" b="1" dirty="0">
                <a:solidFill>
                  <a:srgbClr val="A9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459 / 201</a:t>
            </a:r>
            <a:endParaRPr lang="en-US" sz="4500" dirty="0"/>
          </a:p>
        </p:txBody>
      </p:sp>
      <p:sp>
        <p:nvSpPr>
          <p:cNvPr id="24" name="Text 22"/>
          <p:cNvSpPr/>
          <p:nvPr/>
        </p:nvSpPr>
        <p:spPr>
          <a:xfrm>
            <a:off x="12376071" y="4431030"/>
            <a:ext cx="4774524" cy="1833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65"/>
              </a:lnSpc>
              <a:buNone/>
            </a:pPr>
            <a:r>
              <a:rPr lang="en-US" sz="1950" dirty="0">
                <a:solidFill>
                  <a:srgbClr val="C5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exceeding these limits are split by the carrier and reassembled on the recipient's device, extending the character ceiling (typically up to 459 or 201 characters depending on encoding chunks).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" y="8484870"/>
            <a:ext cx="16383000" cy="1230630"/>
          </a:xfrm>
          <a:prstGeom prst="roundRect">
            <a:avLst>
              <a:gd name="adj" fmla="val 10836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3970" y="8963025"/>
            <a:ext cx="23442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188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SYSTEM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3834170" y="8740140"/>
            <a:ext cx="1356495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20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composer detects encoding as you type, shows the part count, and prices one credit per part before the campaign is launched.</a:t>
            </a:r>
            <a:endParaRPr lang="en-US" sz="20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75447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Upload and Validation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upload, up to 100,000 recipients. Malformed, out-of-country and duplicate numbers are rejected.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portal.smsbroadcast.my/campaigns/new/recipients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14919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Compose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5584031" y="2929890"/>
            <a:ext cx="13931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Recipients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7040999" y="2929890"/>
            <a:ext cx="14354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Merge fields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8536424" y="2929890"/>
            <a:ext cx="9395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4320540" y="3413760"/>
            <a:ext cx="12912090" cy="1112520"/>
          </a:xfrm>
          <a:prstGeom prst="roundRect">
            <a:avLst>
              <a:gd name="adj" fmla="val 10274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5810" y="370332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EEF1F6"/>
          </a:solidFill>
          <a:ln/>
        </p:spPr>
      </p:sp>
      <p:sp>
        <p:nvSpPr>
          <p:cNvPr id="32" name="Text 30"/>
          <p:cNvSpPr/>
          <p:nvPr/>
        </p:nvSpPr>
        <p:spPr>
          <a:xfrm>
            <a:off x="4537710" y="370332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299710" y="3630930"/>
            <a:ext cx="27719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recipients_sep.csv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5299710" y="4011930"/>
            <a:ext cx="27719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 rows · uploaded 09:38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067479" y="3657600"/>
            <a:ext cx="9502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5067479" y="3985260"/>
            <a:ext cx="9502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6189166" y="3657600"/>
            <a:ext cx="7881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6189166" y="3985260"/>
            <a:ext cx="78819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320540" y="4697730"/>
            <a:ext cx="6360795" cy="40576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28160" y="528447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9"/>
          <p:cNvSpPr/>
          <p:nvPr/>
        </p:nvSpPr>
        <p:spPr>
          <a:xfrm>
            <a:off x="4537710" y="4857750"/>
            <a:ext cx="61168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preview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4328160" y="583311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3" name="Text 41"/>
          <p:cNvSpPr/>
          <p:nvPr/>
        </p:nvSpPr>
        <p:spPr>
          <a:xfrm>
            <a:off x="4537710" y="5406390"/>
            <a:ext cx="32750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+60123456781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8124230" y="5406390"/>
            <a:ext cx="24225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Aisyah</a:t>
            </a:r>
            <a:endParaRPr lang="en-US" sz="1725" dirty="0"/>
          </a:p>
        </p:txBody>
      </p:sp>
      <p:sp>
        <p:nvSpPr>
          <p:cNvPr id="45" name="Shape 43"/>
          <p:cNvSpPr/>
          <p:nvPr/>
        </p:nvSpPr>
        <p:spPr>
          <a:xfrm>
            <a:off x="4328160" y="638175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6" name="Text 44"/>
          <p:cNvSpPr/>
          <p:nvPr/>
        </p:nvSpPr>
        <p:spPr>
          <a:xfrm>
            <a:off x="4537710" y="5955030"/>
            <a:ext cx="32750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+60198765404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8124230" y="5955030"/>
            <a:ext cx="24225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4328160" y="693039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9" name="Text 47"/>
          <p:cNvSpPr/>
          <p:nvPr/>
        </p:nvSpPr>
        <p:spPr>
          <a:xfrm>
            <a:off x="4537710" y="6503670"/>
            <a:ext cx="32750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+60173344527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8124230" y="6503670"/>
            <a:ext cx="24225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4537710" y="7052310"/>
            <a:ext cx="32750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+60112298855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8124230" y="7052310"/>
            <a:ext cx="24225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Nurul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10871835" y="4697730"/>
            <a:ext cx="6360795" cy="405765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879456" y="528447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5" name="Text 53"/>
          <p:cNvSpPr/>
          <p:nvPr/>
        </p:nvSpPr>
        <p:spPr>
          <a:xfrm>
            <a:off x="11089006" y="4857750"/>
            <a:ext cx="61168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rows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10879456" y="583311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7" name="Text 55"/>
          <p:cNvSpPr/>
          <p:nvPr/>
        </p:nvSpPr>
        <p:spPr>
          <a:xfrm>
            <a:off x="11050906" y="5406390"/>
            <a:ext cx="7908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12108418" y="5406390"/>
            <a:ext cx="22715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0123-456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14646712" y="5406390"/>
            <a:ext cx="2489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short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10879456" y="638175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1" name="Text 59"/>
          <p:cNvSpPr/>
          <p:nvPr/>
        </p:nvSpPr>
        <p:spPr>
          <a:xfrm>
            <a:off x="11050906" y="5955030"/>
            <a:ext cx="7908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402</a:t>
            </a:r>
            <a:endParaRPr lang="en-US" sz="1725" dirty="0"/>
          </a:p>
        </p:txBody>
      </p:sp>
      <p:sp>
        <p:nvSpPr>
          <p:cNvPr id="62" name="Text 60"/>
          <p:cNvSpPr/>
          <p:nvPr/>
        </p:nvSpPr>
        <p:spPr>
          <a:xfrm>
            <a:off x="12108418" y="5955030"/>
            <a:ext cx="22715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+6512345678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14646712" y="5955030"/>
            <a:ext cx="2489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allowed country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10879456" y="6930390"/>
            <a:ext cx="6345555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5" name="Text 63"/>
          <p:cNvSpPr/>
          <p:nvPr/>
        </p:nvSpPr>
        <p:spPr>
          <a:xfrm>
            <a:off x="11050906" y="6503670"/>
            <a:ext cx="7908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781</a:t>
            </a:r>
            <a:endParaRPr lang="en-US" sz="1725" dirty="0"/>
          </a:p>
        </p:txBody>
      </p:sp>
      <p:sp>
        <p:nvSpPr>
          <p:cNvPr id="66" name="Text 64"/>
          <p:cNvSpPr/>
          <p:nvPr/>
        </p:nvSpPr>
        <p:spPr>
          <a:xfrm>
            <a:off x="12108418" y="6503670"/>
            <a:ext cx="22715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60123456789</a:t>
            </a:r>
            <a:endParaRPr lang="en-US" sz="1725" dirty="0"/>
          </a:p>
        </p:txBody>
      </p:sp>
      <p:sp>
        <p:nvSpPr>
          <p:cNvPr id="67" name="Text 65"/>
          <p:cNvSpPr/>
          <p:nvPr/>
        </p:nvSpPr>
        <p:spPr>
          <a:xfrm>
            <a:off x="14646712" y="6503670"/>
            <a:ext cx="2489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of row 322</a:t>
            </a:r>
            <a:endParaRPr lang="en-US" sz="1725" dirty="0"/>
          </a:p>
        </p:txBody>
      </p:sp>
      <p:sp>
        <p:nvSpPr>
          <p:cNvPr id="68" name="Text 66"/>
          <p:cNvSpPr/>
          <p:nvPr/>
        </p:nvSpPr>
        <p:spPr>
          <a:xfrm>
            <a:off x="11050906" y="7052310"/>
            <a:ext cx="79081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1904</a:t>
            </a:r>
            <a:endParaRPr lang="en-US" sz="1725" dirty="0"/>
          </a:p>
        </p:txBody>
      </p:sp>
      <p:sp>
        <p:nvSpPr>
          <p:cNvPr id="69" name="Text 67"/>
          <p:cNvSpPr/>
          <p:nvPr/>
        </p:nvSpPr>
        <p:spPr>
          <a:xfrm>
            <a:off x="12108418" y="7052310"/>
            <a:ext cx="22715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725" dirty="0"/>
          </a:p>
        </p:txBody>
      </p:sp>
      <p:sp>
        <p:nvSpPr>
          <p:cNvPr id="70" name="Text 68"/>
          <p:cNvSpPr/>
          <p:nvPr/>
        </p:nvSpPr>
        <p:spPr>
          <a:xfrm>
            <a:off x="14646712" y="7052310"/>
            <a:ext cx="2489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</a:t>
            </a:r>
            <a:endParaRPr lang="en-US" sz="1725" dirty="0"/>
          </a:p>
        </p:txBody>
      </p:sp>
      <p:sp>
        <p:nvSpPr>
          <p:cNvPr id="71" name="Shape 69"/>
          <p:cNvSpPr/>
          <p:nvPr/>
        </p:nvSpPr>
        <p:spPr>
          <a:xfrm>
            <a:off x="4320540" y="8926830"/>
            <a:ext cx="2348389" cy="571500"/>
          </a:xfrm>
          <a:prstGeom prst="roundRect">
            <a:avLst>
              <a:gd name="adj" fmla="val 13333"/>
            </a:avLst>
          </a:prstGeom>
          <a:solidFill>
            <a:srgbClr val="1C2B4A"/>
          </a:solidFill>
          <a:ln/>
        </p:spPr>
      </p:sp>
      <p:sp>
        <p:nvSpPr>
          <p:cNvPr id="72" name="Text 70"/>
          <p:cNvSpPr/>
          <p:nvPr/>
        </p:nvSpPr>
        <p:spPr>
          <a:xfrm>
            <a:off x="4568190" y="9041130"/>
            <a:ext cx="19292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to review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6802279" y="8926830"/>
            <a:ext cx="2980849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38499" y="9048750"/>
            <a:ext cx="259783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rejection report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87037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Merge — Column Mapping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 Excel or text file and map its columns to the template placeholders. Rows with missing values are flagged.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portal.smsbroadcast.my/campaigns/new/merge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14919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Compose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5584031" y="2929890"/>
            <a:ext cx="123646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Recipients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6934795" y="2929890"/>
            <a:ext cx="158053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Merge fields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8562142" y="2929890"/>
            <a:ext cx="9395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4320540" y="3394710"/>
            <a:ext cx="12912090" cy="1021080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6760" y="365760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EEF1F6"/>
          </a:solidFill>
          <a:ln/>
        </p:spPr>
      </p:sp>
      <p:sp>
        <p:nvSpPr>
          <p:cNvPr id="32" name="Text 30"/>
          <p:cNvSpPr/>
          <p:nvPr/>
        </p:nvSpPr>
        <p:spPr>
          <a:xfrm>
            <a:off x="4518660" y="365760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5223510" y="3573780"/>
            <a:ext cx="438365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payment_due_sep.xlsx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23510" y="3939540"/>
            <a:ext cx="438365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Payment due reminder · 4,310 rows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4789468" y="3608070"/>
            <a:ext cx="7436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4,298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4789468" y="3912870"/>
            <a:ext cx="74366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5659219" y="3608070"/>
            <a:ext cx="13371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5659219" y="3912870"/>
            <a:ext cx="133719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57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4320540" y="4568190"/>
            <a:ext cx="6057900" cy="4930140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6760" y="4766310"/>
            <a:ext cx="614400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columns to placeholders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4556760" y="5162550"/>
            <a:ext cx="267831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7220308" y="5162550"/>
            <a:ext cx="32141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column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4556760" y="5600700"/>
            <a:ext cx="2352675" cy="445770"/>
          </a:xfrm>
          <a:prstGeom prst="roundRect">
            <a:avLst>
              <a:gd name="adj" fmla="val 12821"/>
            </a:avLst>
          </a:prstGeom>
          <a:solidFill>
            <a:srgbClr val="E7E2FF"/>
          </a:solidFill>
          <a:ln/>
        </p:spPr>
      </p:sp>
      <p:sp>
        <p:nvSpPr>
          <p:cNvPr id="44" name="Text 42"/>
          <p:cNvSpPr/>
          <p:nvPr/>
        </p:nvSpPr>
        <p:spPr>
          <a:xfrm>
            <a:off x="4690110" y="5686425"/>
            <a:ext cx="21621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2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{name}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023735" y="5667375"/>
            <a:ext cx="2570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7318891" y="5574030"/>
            <a:ext cx="2823329" cy="499110"/>
          </a:xfrm>
          <a:prstGeom prst="roundRect">
            <a:avLst>
              <a:gd name="adj" fmla="val 15267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59861" y="5667375"/>
            <a:ext cx="26260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Customer name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4556760" y="6214110"/>
            <a:ext cx="2352675" cy="445770"/>
          </a:xfrm>
          <a:prstGeom prst="roundRect">
            <a:avLst>
              <a:gd name="adj" fmla="val 12821"/>
            </a:avLst>
          </a:prstGeom>
          <a:solidFill>
            <a:srgbClr val="E7E2FF"/>
          </a:solidFill>
          <a:ln/>
        </p:spPr>
      </p:sp>
      <p:sp>
        <p:nvSpPr>
          <p:cNvPr id="49" name="Text 47"/>
          <p:cNvSpPr/>
          <p:nvPr/>
        </p:nvSpPr>
        <p:spPr>
          <a:xfrm>
            <a:off x="4690110" y="6299835"/>
            <a:ext cx="21621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2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{amount}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7023735" y="6280785"/>
            <a:ext cx="2570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7318891" y="6187440"/>
            <a:ext cx="2823329" cy="499110"/>
          </a:xfrm>
          <a:prstGeom prst="roundRect">
            <a:avLst>
              <a:gd name="adj" fmla="val 15267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59861" y="6280785"/>
            <a:ext cx="26260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— Outstanding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4556760" y="6827520"/>
            <a:ext cx="2352675" cy="445770"/>
          </a:xfrm>
          <a:prstGeom prst="roundRect">
            <a:avLst>
              <a:gd name="adj" fmla="val 12821"/>
            </a:avLst>
          </a:prstGeom>
          <a:solidFill>
            <a:srgbClr val="E7E2FF"/>
          </a:solidFill>
          <a:ln/>
        </p:spPr>
      </p:sp>
      <p:sp>
        <p:nvSpPr>
          <p:cNvPr id="54" name="Text 52"/>
          <p:cNvSpPr/>
          <p:nvPr/>
        </p:nvSpPr>
        <p:spPr>
          <a:xfrm>
            <a:off x="4690110" y="6913245"/>
            <a:ext cx="21621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F2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{due_date}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023735" y="6894195"/>
            <a:ext cx="2570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7318891" y="6800850"/>
            <a:ext cx="2823329" cy="499110"/>
          </a:xfrm>
          <a:prstGeom prst="roundRect">
            <a:avLst>
              <a:gd name="adj" fmla="val 15267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59861" y="6894195"/>
            <a:ext cx="26260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— Due date</a:t>
            </a:r>
            <a:endParaRPr lang="en-US" sz="1725" dirty="0"/>
          </a:p>
        </p:txBody>
      </p:sp>
      <p:sp>
        <p:nvSpPr>
          <p:cNvPr id="58" name="Shape 56"/>
          <p:cNvSpPr/>
          <p:nvPr/>
        </p:nvSpPr>
        <p:spPr>
          <a:xfrm>
            <a:off x="4556760" y="7440930"/>
            <a:ext cx="2352675" cy="445770"/>
          </a:xfrm>
          <a:prstGeom prst="roundRect">
            <a:avLst>
              <a:gd name="adj" fmla="val 12821"/>
            </a:avLst>
          </a:prstGeom>
          <a:solidFill>
            <a:srgbClr val="EEF1F6"/>
          </a:solidFill>
          <a:ln/>
        </p:spPr>
      </p:sp>
      <p:sp>
        <p:nvSpPr>
          <p:cNvPr id="59" name="Text 57"/>
          <p:cNvSpPr/>
          <p:nvPr/>
        </p:nvSpPr>
        <p:spPr>
          <a:xfrm>
            <a:off x="4690110" y="7526655"/>
            <a:ext cx="21621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D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7023735" y="7507605"/>
            <a:ext cx="2570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A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7318891" y="7414260"/>
            <a:ext cx="2823329" cy="499110"/>
          </a:xfrm>
          <a:prstGeom prst="roundRect">
            <a:avLst>
              <a:gd name="adj" fmla="val 15267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59861" y="7507605"/>
            <a:ext cx="26260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Mobile no.</a:t>
            </a:r>
            <a:endParaRPr lang="en-US" sz="1725" dirty="0"/>
          </a:p>
        </p:txBody>
      </p:sp>
      <p:sp>
        <p:nvSpPr>
          <p:cNvPr id="63" name="Shape 61"/>
          <p:cNvSpPr/>
          <p:nvPr/>
        </p:nvSpPr>
        <p:spPr>
          <a:xfrm>
            <a:off x="4556760" y="8027670"/>
            <a:ext cx="5585460" cy="809625"/>
          </a:xfrm>
          <a:prstGeom prst="roundRect">
            <a:avLst>
              <a:gd name="adj" fmla="val 9412"/>
            </a:avLst>
          </a:prstGeom>
          <a:solidFill>
            <a:srgbClr val="FFF7E6"/>
          </a:solidFill>
          <a:ln w="7620">
            <a:solidFill>
              <a:srgbClr val="FFD9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6780" y="8149590"/>
            <a:ext cx="5432984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16"/>
              </a:lnSpc>
              <a:buNone/>
            </a:pPr>
            <a:r>
              <a:rPr lang="en-US" sz="165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rows have an empty {amount}. Skip them or fill with a default before sending.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0568940" y="4568190"/>
            <a:ext cx="6663690" cy="4930140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05160" y="4766310"/>
            <a:ext cx="68103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preview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10805160" y="5162550"/>
            <a:ext cx="6191250" cy="874395"/>
          </a:xfrm>
          <a:prstGeom prst="roundRect">
            <a:avLst>
              <a:gd name="adj" fmla="val 10893"/>
            </a:avLst>
          </a:prstGeom>
          <a:solidFill>
            <a:srgbClr val="F4F6F9"/>
          </a:solidFill>
          <a:ln/>
        </p:spPr>
      </p:sp>
      <p:sp>
        <p:nvSpPr>
          <p:cNvPr id="68" name="Text 66"/>
          <p:cNvSpPr/>
          <p:nvPr/>
        </p:nvSpPr>
        <p:spPr>
          <a:xfrm>
            <a:off x="10938510" y="5295900"/>
            <a:ext cx="6110287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65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Aisyah Rahman, your payment of RM1,240.00 is due on 20 Sep. Pay via the app to avoid a late charge.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0805160" y="6151245"/>
            <a:ext cx="6191250" cy="874395"/>
          </a:xfrm>
          <a:prstGeom prst="roundRect">
            <a:avLst>
              <a:gd name="adj" fmla="val 10893"/>
            </a:avLst>
          </a:prstGeom>
          <a:solidFill>
            <a:srgbClr val="F4F6F9"/>
          </a:solidFill>
          <a:ln/>
        </p:spPr>
      </p:sp>
      <p:sp>
        <p:nvSpPr>
          <p:cNvPr id="70" name="Text 68"/>
          <p:cNvSpPr/>
          <p:nvPr/>
        </p:nvSpPr>
        <p:spPr>
          <a:xfrm>
            <a:off x="10938510" y="6284595"/>
            <a:ext cx="6110287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650" dirty="0">
                <a:solidFill>
                  <a:srgbClr val="2C3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Ravi Kumaran, your payment of RM389.50 is due on 22 Sep. Pay via the app to avoid a late charge.</a:t>
            </a:r>
            <a:endParaRPr lang="en-US" sz="1650" dirty="0"/>
          </a:p>
        </p:txBody>
      </p:sp>
      <p:sp>
        <p:nvSpPr>
          <p:cNvPr id="71" name="Shape 69"/>
          <p:cNvSpPr/>
          <p:nvPr/>
        </p:nvSpPr>
        <p:spPr>
          <a:xfrm>
            <a:off x="10805160" y="7139940"/>
            <a:ext cx="6191250" cy="889635"/>
          </a:xfrm>
          <a:prstGeom prst="roundRect">
            <a:avLst>
              <a:gd name="adj" fmla="val 10707"/>
            </a:avLst>
          </a:prstGeom>
          <a:solidFill>
            <a:srgbClr val="FDF1EF"/>
          </a:solidFill>
          <a:ln w="7620">
            <a:solidFill>
              <a:srgbClr val="F0C2B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946130" y="7280910"/>
            <a:ext cx="6095047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609"/>
              </a:lnSpc>
              <a:buNone/>
            </a:pPr>
            <a:r>
              <a:rPr lang="en-US" sz="1650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118 — Hi Lim Wei Ming, your payment of RM is due on 21 Sep. Missing {amount}.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0805160" y="8143875"/>
            <a:ext cx="387117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merged message 138 characters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4514909" y="8143875"/>
            <a:ext cx="584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0805160" y="8555355"/>
            <a:ext cx="2310289" cy="552450"/>
          </a:xfrm>
          <a:prstGeom prst="roundRect">
            <a:avLst>
              <a:gd name="adj" fmla="val 13793"/>
            </a:avLst>
          </a:prstGeom>
          <a:solidFill>
            <a:srgbClr val="1C2B4A"/>
          </a:solidFill>
          <a:ln/>
        </p:spPr>
      </p:sp>
      <p:sp>
        <p:nvSpPr>
          <p:cNvPr id="76" name="Text 74"/>
          <p:cNvSpPr/>
          <p:nvPr/>
        </p:nvSpPr>
        <p:spPr>
          <a:xfrm>
            <a:off x="11033760" y="8660130"/>
            <a:ext cx="192928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to review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3229749" y="8555355"/>
            <a:ext cx="1631871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446919" y="8667750"/>
            <a:ext cx="127373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12 rows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80838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Launch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check: credits required, balance after sending, priority lane and schedule.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portal.smsbroadcast.my/campaigns/new/review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114919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Compose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5584031" y="2929890"/>
            <a:ext cx="123646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Recipients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6934795" y="2929890"/>
            <a:ext cx="143541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Merge fields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8430220" y="2929890"/>
            <a:ext cx="103810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Review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4320540" y="3413760"/>
            <a:ext cx="6938963" cy="2282190"/>
          </a:xfrm>
          <a:prstGeom prst="roundRect">
            <a:avLst>
              <a:gd name="adj" fmla="val 500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5810" y="3630930"/>
            <a:ext cx="707126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4575810" y="4027170"/>
            <a:ext cx="6621275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26"/>
              </a:lnSpc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customer, your statement for Sep 2026 is ready. View it in the app or at maybank2u.com.my. Do not share your TAC with anyone.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4575810" y="4776788"/>
            <a:ext cx="90535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MBB-OTP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576411" y="4776788"/>
            <a:ext cx="91952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591181" y="4776788"/>
            <a:ext cx="5848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50002" y="3413760"/>
            <a:ext cx="5782628" cy="2282190"/>
          </a:xfrm>
          <a:prstGeom prst="roundRect">
            <a:avLst>
              <a:gd name="adj" fmla="val 5008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05273" y="4034790"/>
            <a:ext cx="527208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11705273" y="3630930"/>
            <a:ext cx="10706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328113" y="3630930"/>
            <a:ext cx="725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1705273" y="4541520"/>
            <a:ext cx="527208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1" name="Text 39"/>
          <p:cNvSpPr/>
          <p:nvPr/>
        </p:nvSpPr>
        <p:spPr>
          <a:xfrm>
            <a:off x="11705273" y="4137660"/>
            <a:ext cx="16898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required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328113" y="4137660"/>
            <a:ext cx="7254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1705273" y="5048250"/>
            <a:ext cx="527208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4" name="Text 42"/>
          <p:cNvSpPr/>
          <p:nvPr/>
        </p:nvSpPr>
        <p:spPr>
          <a:xfrm>
            <a:off x="11705273" y="4644390"/>
            <a:ext cx="192956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after send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6210836" y="4644390"/>
            <a:ext cx="8427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458,348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705273" y="5151120"/>
            <a:ext cx="124277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lane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540163" y="5151120"/>
            <a:ext cx="51339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320540" y="5867400"/>
            <a:ext cx="12912090" cy="93726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5810" y="6172200"/>
            <a:ext cx="5636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291852" y="6084570"/>
            <a:ext cx="1568172" cy="502920"/>
          </a:xfrm>
          <a:prstGeom prst="roundRect">
            <a:avLst>
              <a:gd name="adj" fmla="val 15152"/>
            </a:avLst>
          </a:prstGeom>
          <a:solidFill>
            <a:srgbClr val="6F5CD8"/>
          </a:solidFill>
          <a:ln/>
        </p:spPr>
      </p:sp>
      <p:sp>
        <p:nvSpPr>
          <p:cNvPr id="51" name="Text 49"/>
          <p:cNvSpPr/>
          <p:nvPr/>
        </p:nvSpPr>
        <p:spPr>
          <a:xfrm>
            <a:off x="5482352" y="6179820"/>
            <a:ext cx="126337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</a:t>
            </a:r>
            <a:endParaRPr lang="en-US" sz="1725" dirty="0"/>
          </a:p>
        </p:txBody>
      </p:sp>
      <p:sp>
        <p:nvSpPr>
          <p:cNvPr id="52" name="Shape 50"/>
          <p:cNvSpPr/>
          <p:nvPr/>
        </p:nvSpPr>
        <p:spPr>
          <a:xfrm>
            <a:off x="7088624" y="6084570"/>
            <a:ext cx="1994297" cy="502920"/>
          </a:xfrm>
          <a:prstGeom prst="roundRect">
            <a:avLst>
              <a:gd name="adj" fmla="val 15152"/>
            </a:avLst>
          </a:prstGeom>
          <a:solidFill>
            <a:srgbClr val="EEF1F6"/>
          </a:solidFill>
          <a:ln/>
        </p:spPr>
      </p:sp>
      <p:sp>
        <p:nvSpPr>
          <p:cNvPr id="53" name="Text 51"/>
          <p:cNvSpPr/>
          <p:nvPr/>
        </p:nvSpPr>
        <p:spPr>
          <a:xfrm>
            <a:off x="7279124" y="6179820"/>
            <a:ext cx="168949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for later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12962811" y="6179820"/>
            <a:ext cx="441600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is throttled to protect the TAC lane.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4320540" y="6976110"/>
            <a:ext cx="12912090" cy="685800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7620">
            <a:solidFill>
              <a:srgbClr val="FFD9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56760" y="7155180"/>
            <a:ext cx="1282701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rows were rejected at upload. They will not be sent.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4320540" y="7833360"/>
            <a:ext cx="2375297" cy="605790"/>
          </a:xfrm>
          <a:prstGeom prst="roundRect">
            <a:avLst>
              <a:gd name="adj" fmla="val 12579"/>
            </a:avLst>
          </a:prstGeom>
          <a:solidFill>
            <a:srgbClr val="1C2B4A"/>
          </a:solidFill>
          <a:ln/>
        </p:spPr>
      </p:sp>
      <p:sp>
        <p:nvSpPr>
          <p:cNvPr id="58" name="Text 56"/>
          <p:cNvSpPr/>
          <p:nvPr/>
        </p:nvSpPr>
        <p:spPr>
          <a:xfrm>
            <a:off x="4606290" y="7957185"/>
            <a:ext cx="187999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</a:t>
            </a:r>
            <a:endParaRPr lang="en-US" sz="1875" dirty="0"/>
          </a:p>
        </p:txBody>
      </p:sp>
      <p:sp>
        <p:nvSpPr>
          <p:cNvPr id="59" name="Shape 57"/>
          <p:cNvSpPr/>
          <p:nvPr/>
        </p:nvSpPr>
        <p:spPr>
          <a:xfrm>
            <a:off x="6829187" y="7833360"/>
            <a:ext cx="1733788" cy="605790"/>
          </a:xfrm>
          <a:prstGeom prst="roundRect">
            <a:avLst>
              <a:gd name="adj" fmla="val 12579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5407" y="7964805"/>
            <a:ext cx="13375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as draft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7223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Progress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dispatch progress with delivery breakdown, pause and cancel.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portal.smsbroadcast.my/campaigns/1184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22020" y="48348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19" name="Text 17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29890"/>
            <a:ext cx="39390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320540" y="3329940"/>
            <a:ext cx="393901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09:41 by hafiz.aziz · lane bulk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14113073" y="3027045"/>
            <a:ext cx="979051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330243" y="3129915"/>
            <a:ext cx="62091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725" dirty="0"/>
          </a:p>
        </p:txBody>
      </p:sp>
      <p:sp>
        <p:nvSpPr>
          <p:cNvPr id="30" name="Shape 28"/>
          <p:cNvSpPr/>
          <p:nvPr/>
        </p:nvSpPr>
        <p:spPr>
          <a:xfrm>
            <a:off x="15206424" y="3027045"/>
            <a:ext cx="2026206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423594" y="3129915"/>
            <a:ext cx="16680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remaining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4320540" y="3832860"/>
            <a:ext cx="12912090" cy="1588770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4860" y="4069080"/>
            <a:ext cx="114788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581466" y="4069080"/>
            <a:ext cx="261452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18,690 of 23,962 · 78%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94860" y="4530090"/>
            <a:ext cx="12363450" cy="20955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594860" y="4530090"/>
            <a:ext cx="9643467" cy="20955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37" name="Text 35"/>
          <p:cNvSpPr/>
          <p:nvPr/>
        </p:nvSpPr>
        <p:spPr>
          <a:xfrm>
            <a:off x="4594860" y="4872990"/>
            <a:ext cx="140712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58 msg/s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6159818" y="4872990"/>
            <a:ext cx="132317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09:41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7648456" y="4872990"/>
            <a:ext cx="220237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finish 09:53</a:t>
            </a:r>
            <a:endParaRPr lang="en-US" sz="1725" dirty="0"/>
          </a:p>
        </p:txBody>
      </p:sp>
      <p:sp>
        <p:nvSpPr>
          <p:cNvPr id="40" name="Shape 38"/>
          <p:cNvSpPr/>
          <p:nvPr/>
        </p:nvSpPr>
        <p:spPr>
          <a:xfrm>
            <a:off x="4320540" y="561213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56760" y="581025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4556760" y="616458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21,086</a:t>
            </a:r>
            <a:endParaRPr lang="en-US" sz="2700" dirty="0"/>
          </a:p>
        </p:txBody>
      </p:sp>
      <p:sp>
        <p:nvSpPr>
          <p:cNvPr id="43" name="Shape 41"/>
          <p:cNvSpPr/>
          <p:nvPr/>
        </p:nvSpPr>
        <p:spPr>
          <a:xfrm>
            <a:off x="7591425" y="561213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645" y="581025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827645" y="616458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2,157</a:t>
            </a:r>
            <a:endParaRPr lang="en-US" sz="2700" dirty="0"/>
          </a:p>
        </p:txBody>
      </p:sp>
      <p:sp>
        <p:nvSpPr>
          <p:cNvPr id="46" name="Shape 44"/>
          <p:cNvSpPr/>
          <p:nvPr/>
        </p:nvSpPr>
        <p:spPr>
          <a:xfrm>
            <a:off x="10862310" y="561213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98531" y="581025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1098531" y="616458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719</a:t>
            </a:r>
            <a:endParaRPr lang="en-US" sz="2700" dirty="0"/>
          </a:p>
        </p:txBody>
      </p:sp>
      <p:sp>
        <p:nvSpPr>
          <p:cNvPr id="49" name="Shape 47"/>
          <p:cNvSpPr/>
          <p:nvPr/>
        </p:nvSpPr>
        <p:spPr>
          <a:xfrm>
            <a:off x="14133195" y="561213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369415" y="581025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spent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4369415" y="616458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18,690</a:t>
            </a:r>
            <a:endParaRPr lang="en-US" sz="2700" dirty="0"/>
          </a:p>
        </p:txBody>
      </p:sp>
      <p:sp>
        <p:nvSpPr>
          <p:cNvPr id="52" name="Shape 50"/>
          <p:cNvSpPr/>
          <p:nvPr/>
        </p:nvSpPr>
        <p:spPr>
          <a:xfrm>
            <a:off x="4320540" y="6913245"/>
            <a:ext cx="12912090" cy="1684020"/>
          </a:xfrm>
          <a:prstGeom prst="roundRect">
            <a:avLst>
              <a:gd name="adj" fmla="val 678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28160" y="6920865"/>
            <a:ext cx="12896850" cy="579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4" name="Text 52"/>
          <p:cNvSpPr/>
          <p:nvPr/>
        </p:nvSpPr>
        <p:spPr>
          <a:xfrm>
            <a:off x="4537710" y="7054215"/>
            <a:ext cx="400873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8836581" y="7054215"/>
            <a:ext cx="327084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12419052" y="7054215"/>
            <a:ext cx="47468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725" dirty="0"/>
          </a:p>
        </p:txBody>
      </p:sp>
      <p:sp>
        <p:nvSpPr>
          <p:cNvPr id="57" name="Shape 55"/>
          <p:cNvSpPr/>
          <p:nvPr/>
        </p:nvSpPr>
        <p:spPr>
          <a:xfrm>
            <a:off x="4328160" y="804100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8" name="Text 56"/>
          <p:cNvSpPr/>
          <p:nvPr/>
        </p:nvSpPr>
        <p:spPr>
          <a:xfrm>
            <a:off x="4537710" y="7614285"/>
            <a:ext cx="400873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09:47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8836581" y="7614285"/>
            <a:ext cx="327084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Throttled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12419052" y="7614285"/>
            <a:ext cx="47468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lane spike, bulk rate reduced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4537710" y="8162925"/>
            <a:ext cx="400873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09:41</a:t>
            </a:r>
            <a:endParaRPr lang="en-US" sz="1725" dirty="0"/>
          </a:p>
        </p:txBody>
      </p:sp>
      <p:sp>
        <p:nvSpPr>
          <p:cNvPr id="62" name="Text 60"/>
          <p:cNvSpPr/>
          <p:nvPr/>
        </p:nvSpPr>
        <p:spPr>
          <a:xfrm>
            <a:off x="8836581" y="8162925"/>
            <a:ext cx="327084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12419052" y="8162925"/>
            <a:ext cx="47468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 messages queued on lane bulk</a:t>
            </a:r>
            <a:endParaRPr lang="en-US" sz="17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53314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view of the three priority lanes: depth, oldest wait, worker health and dispatch rate.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portal.smsbroadcast.my/admin/queue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22020" y="5501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2929890"/>
            <a:ext cx="2217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467398" y="3034665"/>
            <a:ext cx="133350" cy="133350"/>
          </a:xfrm>
          <a:prstGeom prst="ellipse">
            <a:avLst/>
          </a:prstGeom>
          <a:solidFill>
            <a:srgbClr val="2ECC9B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5048" y="2945130"/>
            <a:ext cx="38693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workers healthy · dispatch 58 msg/s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4320540" y="3463290"/>
            <a:ext cx="418969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320540" y="5074920"/>
            <a:ext cx="4189690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29" name="Shape 27"/>
          <p:cNvSpPr/>
          <p:nvPr/>
        </p:nvSpPr>
        <p:spPr>
          <a:xfrm>
            <a:off x="4320540" y="3463290"/>
            <a:ext cx="4189690" cy="533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4320540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2611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5810" y="372618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· tac</a:t>
            </a:r>
            <a:endParaRPr lang="en-US" sz="1725" dirty="0"/>
          </a:p>
        </p:txBody>
      </p:sp>
      <p:sp>
        <p:nvSpPr>
          <p:cNvPr id="33" name="Text 31"/>
          <p:cNvSpPr/>
          <p:nvPr/>
        </p:nvSpPr>
        <p:spPr>
          <a:xfrm>
            <a:off x="4575810" y="4095750"/>
            <a:ext cx="40470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17"/>
              </a:lnSpc>
              <a:buNone/>
            </a:pPr>
            <a:r>
              <a:rPr lang="en-US" sz="30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575810" y="455295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wait 1.4s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8681681" y="3463290"/>
            <a:ext cx="418969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1681" y="5074920"/>
            <a:ext cx="4189690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7" name="Shape 35"/>
          <p:cNvSpPr/>
          <p:nvPr/>
        </p:nvSpPr>
        <p:spPr>
          <a:xfrm>
            <a:off x="8681681" y="3463290"/>
            <a:ext cx="4189690" cy="53340"/>
          </a:xfrm>
          <a:prstGeom prst="rect">
            <a:avLst/>
          </a:prstGeom>
          <a:solidFill>
            <a:srgbClr val="6F5CD8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1681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39" name="Shape 37"/>
          <p:cNvSpPr/>
          <p:nvPr/>
        </p:nvSpPr>
        <p:spPr>
          <a:xfrm>
            <a:off x="12863751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0" name="Text 38"/>
          <p:cNvSpPr/>
          <p:nvPr/>
        </p:nvSpPr>
        <p:spPr>
          <a:xfrm>
            <a:off x="8936950" y="372618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· transactional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8936950" y="4095750"/>
            <a:ext cx="40470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17"/>
              </a:lnSpc>
              <a:buNone/>
            </a:pPr>
            <a:r>
              <a:rPr lang="en-US" sz="30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1,077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8936950" y="455295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wait 11s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13042821" y="3463290"/>
            <a:ext cx="418969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3042821" y="5074920"/>
            <a:ext cx="4189690" cy="9525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5" name="Shape 43"/>
          <p:cNvSpPr/>
          <p:nvPr/>
        </p:nvSpPr>
        <p:spPr>
          <a:xfrm>
            <a:off x="13042821" y="3463290"/>
            <a:ext cx="4189690" cy="53340"/>
          </a:xfrm>
          <a:prstGeom prst="rect">
            <a:avLst/>
          </a:prstGeom>
          <a:solidFill>
            <a:srgbClr val="95A2B8"/>
          </a:solidFill>
          <a:ln/>
        </p:spPr>
      </p:sp>
      <p:sp>
        <p:nvSpPr>
          <p:cNvPr id="46" name="Shape 44"/>
          <p:cNvSpPr/>
          <p:nvPr/>
        </p:nvSpPr>
        <p:spPr>
          <a:xfrm>
            <a:off x="13042821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7" name="Shape 45"/>
          <p:cNvSpPr/>
          <p:nvPr/>
        </p:nvSpPr>
        <p:spPr>
          <a:xfrm>
            <a:off x="17224892" y="3463290"/>
            <a:ext cx="9525" cy="161925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48" name="Text 46"/>
          <p:cNvSpPr/>
          <p:nvPr/>
        </p:nvSpPr>
        <p:spPr>
          <a:xfrm>
            <a:off x="13298091" y="372618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· bulk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3298091" y="4095750"/>
            <a:ext cx="404706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517"/>
              </a:lnSpc>
              <a:buNone/>
            </a:pPr>
            <a:r>
              <a:rPr lang="en-US" sz="30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18,430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13298091" y="4552950"/>
            <a:ext cx="40470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wait 6m 20s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4320540" y="5273040"/>
            <a:ext cx="12912090" cy="243078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28160" y="528066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3" name="Text 51"/>
          <p:cNvSpPr/>
          <p:nvPr/>
        </p:nvSpPr>
        <p:spPr>
          <a:xfrm>
            <a:off x="4537710" y="5433060"/>
            <a:ext cx="366818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batch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8505944" y="5433060"/>
            <a:ext cx="213717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10986017" y="5433060"/>
            <a:ext cx="18892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13218200" y="5433060"/>
            <a:ext cx="164127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725" dirty="0"/>
          </a:p>
        </p:txBody>
      </p:sp>
      <p:sp>
        <p:nvSpPr>
          <p:cNvPr id="57" name="Text 55"/>
          <p:cNvSpPr/>
          <p:nvPr/>
        </p:nvSpPr>
        <p:spPr>
          <a:xfrm>
            <a:off x="15202377" y="5433060"/>
            <a:ext cx="188916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725" dirty="0"/>
          </a:p>
        </p:txBody>
      </p:sp>
      <p:sp>
        <p:nvSpPr>
          <p:cNvPr id="58" name="Shape 56"/>
          <p:cNvSpPr/>
          <p:nvPr/>
        </p:nvSpPr>
        <p:spPr>
          <a:xfrm>
            <a:off x="4328160" y="64922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9" name="Text 57"/>
          <p:cNvSpPr/>
          <p:nvPr/>
        </p:nvSpPr>
        <p:spPr>
          <a:xfrm>
            <a:off x="4537710" y="6031230"/>
            <a:ext cx="366818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8505944" y="6031230"/>
            <a:ext cx="213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986017" y="6031230"/>
            <a:ext cx="18892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3218200" y="6031230"/>
            <a:ext cx="16412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18,430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202377" y="6036945"/>
            <a:ext cx="973812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64" name="Text 62"/>
          <p:cNvSpPr/>
          <p:nvPr/>
        </p:nvSpPr>
        <p:spPr>
          <a:xfrm>
            <a:off x="15316677" y="6084570"/>
            <a:ext cx="8214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575" dirty="0"/>
          </a:p>
        </p:txBody>
      </p:sp>
      <p:sp>
        <p:nvSpPr>
          <p:cNvPr id="65" name="Shape 63"/>
          <p:cNvSpPr/>
          <p:nvPr/>
        </p:nvSpPr>
        <p:spPr>
          <a:xfrm>
            <a:off x="4328160" y="709422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6" name="Text 64"/>
          <p:cNvSpPr/>
          <p:nvPr/>
        </p:nvSpPr>
        <p:spPr>
          <a:xfrm>
            <a:off x="4537710" y="6633210"/>
            <a:ext cx="366818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stream — TAC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505944" y="6633210"/>
            <a:ext cx="213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0986017" y="6633210"/>
            <a:ext cx="18892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3218200" y="6633210"/>
            <a:ext cx="16412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202377" y="6638925"/>
            <a:ext cx="973812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71" name="Text 69"/>
          <p:cNvSpPr/>
          <p:nvPr/>
        </p:nvSpPr>
        <p:spPr>
          <a:xfrm>
            <a:off x="15316677" y="6686550"/>
            <a:ext cx="8214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575" dirty="0"/>
          </a:p>
        </p:txBody>
      </p:sp>
      <p:sp>
        <p:nvSpPr>
          <p:cNvPr id="72" name="Shape 70"/>
          <p:cNvSpPr/>
          <p:nvPr/>
        </p:nvSpPr>
        <p:spPr>
          <a:xfrm>
            <a:off x="4328160" y="7101840"/>
            <a:ext cx="12896850" cy="5943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73" name="Text 71"/>
          <p:cNvSpPr/>
          <p:nvPr/>
        </p:nvSpPr>
        <p:spPr>
          <a:xfrm>
            <a:off x="4537710" y="7235190"/>
            <a:ext cx="366818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appointment alerts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8505944" y="7235190"/>
            <a:ext cx="21371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Prima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0986017" y="7235190"/>
            <a:ext cx="18892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3218200" y="7235190"/>
            <a:ext cx="16412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1,077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202377" y="7240905"/>
            <a:ext cx="1017984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78" name="Text 76"/>
          <p:cNvSpPr/>
          <p:nvPr/>
        </p:nvSpPr>
        <p:spPr>
          <a:xfrm>
            <a:off x="15316677" y="7288530"/>
            <a:ext cx="8655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Throttled</a:t>
            </a:r>
            <a:endParaRPr lang="en-US" sz="1575" dirty="0"/>
          </a:p>
        </p:txBody>
      </p:sp>
      <p:sp>
        <p:nvSpPr>
          <p:cNvPr id="79" name="Text 77"/>
          <p:cNvSpPr/>
          <p:nvPr/>
        </p:nvSpPr>
        <p:spPr>
          <a:xfrm>
            <a:off x="4320540" y="7989570"/>
            <a:ext cx="182832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rate limit</a:t>
            </a:r>
            <a:endParaRPr lang="en-US" sz="1725" dirty="0"/>
          </a:p>
        </p:txBody>
      </p:sp>
      <p:sp>
        <p:nvSpPr>
          <p:cNvPr id="80" name="Shape 78"/>
          <p:cNvSpPr/>
          <p:nvPr/>
        </p:nvSpPr>
        <p:spPr>
          <a:xfrm>
            <a:off x="6116003" y="7898130"/>
            <a:ext cx="14478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14123" y="8001000"/>
            <a:ext cx="112776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msg/s</a:t>
            </a:r>
            <a:endParaRPr lang="en-US" sz="1725" dirty="0"/>
          </a:p>
        </p:txBody>
      </p:sp>
      <p:sp>
        <p:nvSpPr>
          <p:cNvPr id="82" name="Shape 80"/>
          <p:cNvSpPr/>
          <p:nvPr/>
        </p:nvSpPr>
        <p:spPr>
          <a:xfrm>
            <a:off x="7697153" y="7894320"/>
            <a:ext cx="956310" cy="502920"/>
          </a:xfrm>
          <a:prstGeom prst="roundRect">
            <a:avLst>
              <a:gd name="adj" fmla="val 15152"/>
            </a:avLst>
          </a:prstGeom>
          <a:solidFill>
            <a:srgbClr val="1C2B4A"/>
          </a:solidFill>
          <a:ln/>
        </p:spPr>
      </p:sp>
      <p:sp>
        <p:nvSpPr>
          <p:cNvPr id="83" name="Text 81"/>
          <p:cNvSpPr/>
          <p:nvPr/>
        </p:nvSpPr>
        <p:spPr>
          <a:xfrm>
            <a:off x="7906703" y="7989570"/>
            <a:ext cx="61341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7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653790"/>
            <a:ext cx="180213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9000" b="1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52500" y="504444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and Reporting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6168390"/>
            <a:ext cx="180213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A9B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23–29</a:t>
            </a:r>
            <a:endParaRPr lang="en-US" sz="2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21122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Log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with its status. Submitted means iSMS accepted it and the telco outcome is still pending.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portal.smsbroadcast.my/messages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22020" y="5501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3017520"/>
            <a:ext cx="15281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041863" y="2929890"/>
            <a:ext cx="1159669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39983" y="3032760"/>
            <a:ext cx="83962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all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3315831" y="2929890"/>
            <a:ext cx="1290399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513951" y="3032760"/>
            <a:ext cx="97035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all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14720531" y="2929890"/>
            <a:ext cx="1397198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18651" y="3032760"/>
            <a:ext cx="107715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7 days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16232029" y="2929890"/>
            <a:ext cx="1000601" cy="518160"/>
          </a:xfrm>
          <a:prstGeom prst="roundRect">
            <a:avLst>
              <a:gd name="adj" fmla="val 14706"/>
            </a:avLst>
          </a:prstGeom>
          <a:solidFill>
            <a:srgbClr val="1F7A4D"/>
          </a:solidFill>
          <a:ln/>
        </p:spPr>
      </p:sp>
      <p:sp>
        <p:nvSpPr>
          <p:cNvPr id="34" name="Text 32"/>
          <p:cNvSpPr/>
          <p:nvPr/>
        </p:nvSpPr>
        <p:spPr>
          <a:xfrm>
            <a:off x="16422529" y="3025140"/>
            <a:ext cx="69580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4320540" y="3638550"/>
            <a:ext cx="12912090" cy="3463290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7" name="Text 35"/>
          <p:cNvSpPr/>
          <p:nvPr/>
        </p:nvSpPr>
        <p:spPr>
          <a:xfrm>
            <a:off x="4518660" y="3798570"/>
            <a:ext cx="191178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ID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6735246" y="3798570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8750379" y="3798570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10564059" y="3798570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13385245" y="3798570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5400377" y="3798570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at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4328160" y="482346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4" name="Text 42"/>
          <p:cNvSpPr/>
          <p:nvPr/>
        </p:nvSpPr>
        <p:spPr>
          <a:xfrm>
            <a:off x="4518660" y="4406265"/>
            <a:ext cx="19117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msg_9fa21c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6735246" y="4406265"/>
            <a:ext cx="17103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+60123••••81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8750379" y="4387215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10564059" y="4387215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13385245" y="4377690"/>
            <a:ext cx="1073587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49" name="Text 47"/>
          <p:cNvSpPr/>
          <p:nvPr/>
        </p:nvSpPr>
        <p:spPr>
          <a:xfrm>
            <a:off x="13499545" y="4425315"/>
            <a:ext cx="9211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575" dirty="0"/>
          </a:p>
        </p:txBody>
      </p:sp>
      <p:sp>
        <p:nvSpPr>
          <p:cNvPr id="50" name="Text 48"/>
          <p:cNvSpPr/>
          <p:nvPr/>
        </p:nvSpPr>
        <p:spPr>
          <a:xfrm>
            <a:off x="15400377" y="4387215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09:12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4328160" y="53911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2" name="Text 50"/>
          <p:cNvSpPr/>
          <p:nvPr/>
        </p:nvSpPr>
        <p:spPr>
          <a:xfrm>
            <a:off x="4518660" y="4973955"/>
            <a:ext cx="19117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msg_9fa21d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6735246" y="4973955"/>
            <a:ext cx="17103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+60198••••04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8750379" y="4954905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10564059" y="4954905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25" dirty="0"/>
          </a:p>
        </p:txBody>
      </p:sp>
      <p:sp>
        <p:nvSpPr>
          <p:cNvPr id="56" name="Shape 54"/>
          <p:cNvSpPr/>
          <p:nvPr/>
        </p:nvSpPr>
        <p:spPr>
          <a:xfrm>
            <a:off x="13385245" y="4945380"/>
            <a:ext cx="1129308" cy="323850"/>
          </a:xfrm>
          <a:prstGeom prst="roundRect">
            <a:avLst>
              <a:gd name="adj" fmla="val 17647"/>
            </a:avLst>
          </a:prstGeom>
          <a:solidFill>
            <a:srgbClr val="DFE4EC"/>
          </a:solidFill>
          <a:ln/>
        </p:spPr>
      </p:sp>
      <p:sp>
        <p:nvSpPr>
          <p:cNvPr id="57" name="Text 55"/>
          <p:cNvSpPr/>
          <p:nvPr/>
        </p:nvSpPr>
        <p:spPr>
          <a:xfrm>
            <a:off x="13499545" y="4993005"/>
            <a:ext cx="976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5400377" y="4954905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telco</a:t>
            </a:r>
            <a:endParaRPr lang="en-US" sz="1725" dirty="0"/>
          </a:p>
        </p:txBody>
      </p:sp>
      <p:sp>
        <p:nvSpPr>
          <p:cNvPr id="59" name="Shape 57"/>
          <p:cNvSpPr/>
          <p:nvPr/>
        </p:nvSpPr>
        <p:spPr>
          <a:xfrm>
            <a:off x="4328160" y="59588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0" name="Text 58"/>
          <p:cNvSpPr/>
          <p:nvPr/>
        </p:nvSpPr>
        <p:spPr>
          <a:xfrm>
            <a:off x="4518660" y="5541645"/>
            <a:ext cx="19117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msg_9f8730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6735246" y="5541645"/>
            <a:ext cx="17103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+60173••••27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8750379" y="5522595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10564059" y="5522595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64" name="Shape 62"/>
          <p:cNvSpPr/>
          <p:nvPr/>
        </p:nvSpPr>
        <p:spPr>
          <a:xfrm>
            <a:off x="13385245" y="5513070"/>
            <a:ext cx="773430" cy="323850"/>
          </a:xfrm>
          <a:prstGeom prst="roundRect">
            <a:avLst>
              <a:gd name="adj" fmla="val 17647"/>
            </a:avLst>
          </a:prstGeom>
          <a:solidFill>
            <a:srgbClr val="FDD9D3"/>
          </a:solidFill>
          <a:ln/>
        </p:spPr>
      </p:sp>
      <p:sp>
        <p:nvSpPr>
          <p:cNvPr id="65" name="Text 63"/>
          <p:cNvSpPr/>
          <p:nvPr/>
        </p:nvSpPr>
        <p:spPr>
          <a:xfrm>
            <a:off x="13499545" y="5560695"/>
            <a:ext cx="6210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575" dirty="0"/>
          </a:p>
        </p:txBody>
      </p:sp>
      <p:sp>
        <p:nvSpPr>
          <p:cNvPr id="66" name="Text 64"/>
          <p:cNvSpPr/>
          <p:nvPr/>
        </p:nvSpPr>
        <p:spPr>
          <a:xfrm>
            <a:off x="15400377" y="5522595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18:40</a:t>
            </a:r>
            <a:endParaRPr lang="en-US" sz="1725" dirty="0"/>
          </a:p>
        </p:txBody>
      </p:sp>
      <p:sp>
        <p:nvSpPr>
          <p:cNvPr id="67" name="Shape 65"/>
          <p:cNvSpPr/>
          <p:nvPr/>
        </p:nvSpPr>
        <p:spPr>
          <a:xfrm>
            <a:off x="4328160" y="652653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8" name="Text 66"/>
          <p:cNvSpPr/>
          <p:nvPr/>
        </p:nvSpPr>
        <p:spPr>
          <a:xfrm>
            <a:off x="4518660" y="6109335"/>
            <a:ext cx="19117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msg_9f8722</a:t>
            </a:r>
            <a:endParaRPr lang="en-US" sz="1650" dirty="0"/>
          </a:p>
        </p:txBody>
      </p:sp>
      <p:sp>
        <p:nvSpPr>
          <p:cNvPr id="69" name="Text 67"/>
          <p:cNvSpPr/>
          <p:nvPr/>
        </p:nvSpPr>
        <p:spPr>
          <a:xfrm>
            <a:off x="6735246" y="6109335"/>
            <a:ext cx="17103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+60112••••55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8750379" y="6090285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725" dirty="0"/>
          </a:p>
        </p:txBody>
      </p:sp>
      <p:sp>
        <p:nvSpPr>
          <p:cNvPr id="71" name="Text 69"/>
          <p:cNvSpPr/>
          <p:nvPr/>
        </p:nvSpPr>
        <p:spPr>
          <a:xfrm>
            <a:off x="10564059" y="6090285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25" dirty="0"/>
          </a:p>
        </p:txBody>
      </p:sp>
      <p:sp>
        <p:nvSpPr>
          <p:cNvPr id="72" name="Shape 70"/>
          <p:cNvSpPr/>
          <p:nvPr/>
        </p:nvSpPr>
        <p:spPr>
          <a:xfrm>
            <a:off x="13385245" y="6080760"/>
            <a:ext cx="1073587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73" name="Text 71"/>
          <p:cNvSpPr/>
          <p:nvPr/>
        </p:nvSpPr>
        <p:spPr>
          <a:xfrm>
            <a:off x="13499545" y="6128385"/>
            <a:ext cx="9211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575" dirty="0"/>
          </a:p>
        </p:txBody>
      </p:sp>
      <p:sp>
        <p:nvSpPr>
          <p:cNvPr id="74" name="Text 72"/>
          <p:cNvSpPr/>
          <p:nvPr/>
        </p:nvSpPr>
        <p:spPr>
          <a:xfrm>
            <a:off x="15400377" y="6090285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18:39</a:t>
            </a:r>
            <a:endParaRPr lang="en-US" sz="1725" dirty="0"/>
          </a:p>
        </p:txBody>
      </p:sp>
      <p:sp>
        <p:nvSpPr>
          <p:cNvPr id="75" name="Shape 73"/>
          <p:cNvSpPr/>
          <p:nvPr/>
        </p:nvSpPr>
        <p:spPr>
          <a:xfrm>
            <a:off x="4328160" y="6534150"/>
            <a:ext cx="12896850" cy="56007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76" name="Text 74"/>
          <p:cNvSpPr/>
          <p:nvPr/>
        </p:nvSpPr>
        <p:spPr>
          <a:xfrm>
            <a:off x="4518660" y="6677025"/>
            <a:ext cx="191178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msg_9f86e1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6735246" y="6677025"/>
            <a:ext cx="171033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+60167••••19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8750379" y="6657975"/>
            <a:ext cx="150887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79" name="Text 77"/>
          <p:cNvSpPr/>
          <p:nvPr/>
        </p:nvSpPr>
        <p:spPr>
          <a:xfrm>
            <a:off x="10564059" y="6657975"/>
            <a:ext cx="25248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80" name="Shape 78"/>
          <p:cNvSpPr/>
          <p:nvPr/>
        </p:nvSpPr>
        <p:spPr>
          <a:xfrm>
            <a:off x="13385245" y="6648450"/>
            <a:ext cx="1129308" cy="323850"/>
          </a:xfrm>
          <a:prstGeom prst="roundRect">
            <a:avLst>
              <a:gd name="adj" fmla="val 17647"/>
            </a:avLst>
          </a:prstGeom>
          <a:solidFill>
            <a:srgbClr val="DFE4EC"/>
          </a:solidFill>
          <a:ln/>
        </p:spPr>
      </p:sp>
      <p:sp>
        <p:nvSpPr>
          <p:cNvPr id="81" name="Text 79"/>
          <p:cNvSpPr/>
          <p:nvPr/>
        </p:nvSpPr>
        <p:spPr>
          <a:xfrm>
            <a:off x="13499545" y="6696075"/>
            <a:ext cx="976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575" dirty="0"/>
          </a:p>
        </p:txBody>
      </p:sp>
      <p:sp>
        <p:nvSpPr>
          <p:cNvPr id="82" name="Text 80"/>
          <p:cNvSpPr/>
          <p:nvPr/>
        </p:nvSpPr>
        <p:spPr>
          <a:xfrm>
            <a:off x="15400377" y="6657975"/>
            <a:ext cx="171033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telco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4320540" y="7292340"/>
            <a:ext cx="31687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 to 5 of 38,204 entries</a:t>
            </a:r>
            <a:endParaRPr lang="en-US" sz="1725" dirty="0"/>
          </a:p>
        </p:txBody>
      </p:sp>
      <p:sp>
        <p:nvSpPr>
          <p:cNvPr id="84" name="Text 82"/>
          <p:cNvSpPr/>
          <p:nvPr/>
        </p:nvSpPr>
        <p:spPr>
          <a:xfrm>
            <a:off x="13105091" y="7292340"/>
            <a:ext cx="454029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12 months · TAC content not stored</a:t>
            </a:r>
            <a:endParaRPr lang="en-US" sz="17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675157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Report by Recipient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recipient and the status of their message. Filter by date, campaign, status, type or number.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portal.smsbroadcast.my/reports/delivery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2020" y="68351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79420"/>
            <a:ext cx="2179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report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312741" y="2891790"/>
            <a:ext cx="1401723" cy="518160"/>
          </a:xfrm>
          <a:prstGeom prst="roundRect">
            <a:avLst>
              <a:gd name="adj" fmla="val 14706"/>
            </a:avLst>
          </a:prstGeom>
          <a:solidFill>
            <a:srgbClr val="1F7A4D"/>
          </a:solidFill>
          <a:ln/>
        </p:spPr>
      </p:sp>
      <p:sp>
        <p:nvSpPr>
          <p:cNvPr id="28" name="Text 26"/>
          <p:cNvSpPr/>
          <p:nvPr/>
        </p:nvSpPr>
        <p:spPr>
          <a:xfrm>
            <a:off x="14503241" y="2987040"/>
            <a:ext cx="10969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5828764" y="2891790"/>
            <a:ext cx="1403866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26884" y="2994660"/>
            <a:ext cx="108382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4320540" y="3543300"/>
            <a:ext cx="12912090" cy="1535430"/>
          </a:xfrm>
          <a:prstGeom prst="roundRect">
            <a:avLst>
              <a:gd name="adj" fmla="val 7444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7710" y="4030980"/>
            <a:ext cx="2341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from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4537710" y="4385310"/>
            <a:ext cx="2128718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78680" y="4488180"/>
            <a:ext cx="192297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Sep 2026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799779" y="4030980"/>
            <a:ext cx="2341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to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6799779" y="4385310"/>
            <a:ext cx="2128718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749" y="4488180"/>
            <a:ext cx="192297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2026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61847" y="3703320"/>
            <a:ext cx="234172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061847" y="4057650"/>
            <a:ext cx="2128838" cy="861060"/>
          </a:xfrm>
          <a:prstGeom prst="roundRect">
            <a:avLst>
              <a:gd name="adj" fmla="val 8850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02817" y="4160520"/>
            <a:ext cx="1923098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324034" y="4030980"/>
            <a:ext cx="2341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324034" y="4385310"/>
            <a:ext cx="2128718" cy="533400"/>
          </a:xfrm>
          <a:prstGeom prst="roundRect">
            <a:avLst>
              <a:gd name="adj" fmla="val 14286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65004" y="4488180"/>
            <a:ext cx="192297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586103" y="4053840"/>
            <a:ext cx="234172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number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3586103" y="4408170"/>
            <a:ext cx="2128838" cy="510540"/>
          </a:xfrm>
          <a:prstGeom prst="roundRect">
            <a:avLst>
              <a:gd name="adj" fmla="val 14925"/>
            </a:avLst>
          </a:prstGeom>
          <a:ln w="7620">
            <a:solidFill>
              <a:srgbClr val="DF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727073" y="4511040"/>
            <a:ext cx="192309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Search…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848291" y="4362450"/>
            <a:ext cx="1167170" cy="556260"/>
          </a:xfrm>
          <a:prstGeom prst="roundRect">
            <a:avLst>
              <a:gd name="adj" fmla="val 13699"/>
            </a:avLst>
          </a:prstGeom>
          <a:solidFill>
            <a:srgbClr val="1C2B4A"/>
          </a:solidFill>
          <a:ln/>
        </p:spPr>
      </p:sp>
      <p:sp>
        <p:nvSpPr>
          <p:cNvPr id="48" name="Text 46"/>
          <p:cNvSpPr/>
          <p:nvPr/>
        </p:nvSpPr>
        <p:spPr>
          <a:xfrm>
            <a:off x="16095941" y="4476750"/>
            <a:ext cx="7480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320540" y="5212080"/>
            <a:ext cx="1938861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 </a:t>
            </a:r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06991" y="5212080"/>
            <a:ext cx="192851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21,086 </a:t>
            </a:r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484037" y="5212080"/>
            <a:ext cx="186211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2,157 </a:t>
            </a:r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500717" y="5212080"/>
            <a:ext cx="109942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719 </a:t>
            </a:r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847791" y="5212080"/>
            <a:ext cx="221808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23,962 </a:t>
            </a:r>
            <a:pPr algn="l" indent="0" marL="0">
              <a:buNone/>
            </a:pPr>
            <a:r>
              <a:rPr lang="en-US" sz="1800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used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320540" y="5680710"/>
            <a:ext cx="12912090" cy="3002280"/>
          </a:xfrm>
          <a:prstGeom prst="roundRect">
            <a:avLst>
              <a:gd name="adj" fmla="val 380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28160" y="5688330"/>
            <a:ext cx="12896850" cy="5257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6" name="Text 54"/>
          <p:cNvSpPr/>
          <p:nvPr/>
        </p:nvSpPr>
        <p:spPr>
          <a:xfrm>
            <a:off x="4499610" y="5802630"/>
            <a:ext cx="15756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6341983" y="5802630"/>
            <a:ext cx="20781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8686800" y="5802630"/>
            <a:ext cx="1240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0194251" y="5802630"/>
            <a:ext cx="14082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1869222" y="5802630"/>
            <a:ext cx="140815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3544074" y="5802630"/>
            <a:ext cx="14082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at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5219045" y="5802630"/>
            <a:ext cx="73818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6223933" y="5802630"/>
            <a:ext cx="90582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4328160" y="70294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5" name="Text 63"/>
          <p:cNvSpPr/>
          <p:nvPr/>
        </p:nvSpPr>
        <p:spPr>
          <a:xfrm>
            <a:off x="4499610" y="6484620"/>
            <a:ext cx="15849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+60123456781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6351270" y="6309360"/>
            <a:ext cx="207621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67" name="Text 65"/>
          <p:cNvSpPr/>
          <p:nvPr/>
        </p:nvSpPr>
        <p:spPr>
          <a:xfrm>
            <a:off x="8694182" y="6465570"/>
            <a:ext cx="12394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68" name="Shape 66"/>
          <p:cNvSpPr/>
          <p:nvPr/>
        </p:nvSpPr>
        <p:spPr>
          <a:xfrm>
            <a:off x="10200323" y="6456045"/>
            <a:ext cx="1073587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69" name="Text 67"/>
          <p:cNvSpPr/>
          <p:nvPr/>
        </p:nvSpPr>
        <p:spPr>
          <a:xfrm>
            <a:off x="10314623" y="6503670"/>
            <a:ext cx="9211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575" dirty="0"/>
          </a:p>
        </p:txBody>
      </p:sp>
      <p:sp>
        <p:nvSpPr>
          <p:cNvPr id="70" name="Text 68"/>
          <p:cNvSpPr/>
          <p:nvPr/>
        </p:nvSpPr>
        <p:spPr>
          <a:xfrm>
            <a:off x="11873865" y="6465570"/>
            <a:ext cx="14067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09:41</a:t>
            </a:r>
            <a:endParaRPr lang="en-US" sz="1725" dirty="0"/>
          </a:p>
        </p:txBody>
      </p:sp>
      <p:sp>
        <p:nvSpPr>
          <p:cNvPr id="71" name="Text 69"/>
          <p:cNvSpPr/>
          <p:nvPr/>
        </p:nvSpPr>
        <p:spPr>
          <a:xfrm>
            <a:off x="13547288" y="6465570"/>
            <a:ext cx="14068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09:42</a:t>
            </a:r>
            <a:endParaRPr lang="en-US" sz="1725" dirty="0"/>
          </a:p>
        </p:txBody>
      </p:sp>
      <p:sp>
        <p:nvSpPr>
          <p:cNvPr id="72" name="Text 70"/>
          <p:cNvSpPr/>
          <p:nvPr/>
        </p:nvSpPr>
        <p:spPr>
          <a:xfrm>
            <a:off x="15220831" y="6465570"/>
            <a:ext cx="73735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73" name="Text 71"/>
          <p:cNvSpPr/>
          <p:nvPr/>
        </p:nvSpPr>
        <p:spPr>
          <a:xfrm>
            <a:off x="16224885" y="6465570"/>
            <a:ext cx="9048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74" name="Shape 72"/>
          <p:cNvSpPr/>
          <p:nvPr/>
        </p:nvSpPr>
        <p:spPr>
          <a:xfrm>
            <a:off x="4328160" y="785241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5" name="Text 73"/>
          <p:cNvSpPr/>
          <p:nvPr/>
        </p:nvSpPr>
        <p:spPr>
          <a:xfrm>
            <a:off x="4499610" y="7307580"/>
            <a:ext cx="15849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+60173344527</a:t>
            </a:r>
            <a:endParaRPr lang="en-US" sz="1650" dirty="0"/>
          </a:p>
        </p:txBody>
      </p:sp>
      <p:sp>
        <p:nvSpPr>
          <p:cNvPr id="76" name="Text 74"/>
          <p:cNvSpPr/>
          <p:nvPr/>
        </p:nvSpPr>
        <p:spPr>
          <a:xfrm>
            <a:off x="6351270" y="7132320"/>
            <a:ext cx="207621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77" name="Text 75"/>
          <p:cNvSpPr/>
          <p:nvPr/>
        </p:nvSpPr>
        <p:spPr>
          <a:xfrm>
            <a:off x="8694182" y="7288530"/>
            <a:ext cx="12394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78" name="Shape 76"/>
          <p:cNvSpPr/>
          <p:nvPr/>
        </p:nvSpPr>
        <p:spPr>
          <a:xfrm>
            <a:off x="10200323" y="7279005"/>
            <a:ext cx="773430" cy="323850"/>
          </a:xfrm>
          <a:prstGeom prst="roundRect">
            <a:avLst>
              <a:gd name="adj" fmla="val 17647"/>
            </a:avLst>
          </a:prstGeom>
          <a:solidFill>
            <a:srgbClr val="FDD9D3"/>
          </a:solidFill>
          <a:ln/>
        </p:spPr>
      </p:sp>
      <p:sp>
        <p:nvSpPr>
          <p:cNvPr id="79" name="Text 77"/>
          <p:cNvSpPr/>
          <p:nvPr/>
        </p:nvSpPr>
        <p:spPr>
          <a:xfrm>
            <a:off x="10314623" y="7326630"/>
            <a:ext cx="6210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575" dirty="0"/>
          </a:p>
        </p:txBody>
      </p:sp>
      <p:sp>
        <p:nvSpPr>
          <p:cNvPr id="80" name="Text 78"/>
          <p:cNvSpPr/>
          <p:nvPr/>
        </p:nvSpPr>
        <p:spPr>
          <a:xfrm>
            <a:off x="11873865" y="7288530"/>
            <a:ext cx="14067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09:41</a:t>
            </a:r>
            <a:endParaRPr lang="en-US" sz="1725" dirty="0"/>
          </a:p>
        </p:txBody>
      </p:sp>
      <p:sp>
        <p:nvSpPr>
          <p:cNvPr id="81" name="Text 79"/>
          <p:cNvSpPr/>
          <p:nvPr/>
        </p:nvSpPr>
        <p:spPr>
          <a:xfrm>
            <a:off x="13547288" y="7288530"/>
            <a:ext cx="14068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18:33</a:t>
            </a:r>
            <a:endParaRPr lang="en-US" sz="1725" dirty="0"/>
          </a:p>
        </p:txBody>
      </p:sp>
      <p:sp>
        <p:nvSpPr>
          <p:cNvPr id="82" name="Text 80"/>
          <p:cNvSpPr/>
          <p:nvPr/>
        </p:nvSpPr>
        <p:spPr>
          <a:xfrm>
            <a:off x="15220831" y="7288530"/>
            <a:ext cx="73735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16224885" y="7288530"/>
            <a:ext cx="9048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725" dirty="0"/>
          </a:p>
        </p:txBody>
      </p:sp>
      <p:sp>
        <p:nvSpPr>
          <p:cNvPr id="84" name="Shape 82"/>
          <p:cNvSpPr/>
          <p:nvPr/>
        </p:nvSpPr>
        <p:spPr>
          <a:xfrm>
            <a:off x="4328160" y="7860030"/>
            <a:ext cx="12896850" cy="81534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85" name="Text 83"/>
          <p:cNvSpPr/>
          <p:nvPr/>
        </p:nvSpPr>
        <p:spPr>
          <a:xfrm>
            <a:off x="4499610" y="8130540"/>
            <a:ext cx="158496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+60167223419</a:t>
            </a:r>
            <a:endParaRPr lang="en-US" sz="1650" dirty="0"/>
          </a:p>
        </p:txBody>
      </p:sp>
      <p:sp>
        <p:nvSpPr>
          <p:cNvPr id="86" name="Text 84"/>
          <p:cNvSpPr/>
          <p:nvPr/>
        </p:nvSpPr>
        <p:spPr>
          <a:xfrm>
            <a:off x="6351270" y="7955280"/>
            <a:ext cx="2076212" cy="66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87" name="Text 85"/>
          <p:cNvSpPr/>
          <p:nvPr/>
        </p:nvSpPr>
        <p:spPr>
          <a:xfrm>
            <a:off x="8694182" y="8111490"/>
            <a:ext cx="12394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88" name="Shape 86"/>
          <p:cNvSpPr/>
          <p:nvPr/>
        </p:nvSpPr>
        <p:spPr>
          <a:xfrm>
            <a:off x="10200323" y="8101965"/>
            <a:ext cx="1129308" cy="323850"/>
          </a:xfrm>
          <a:prstGeom prst="roundRect">
            <a:avLst>
              <a:gd name="adj" fmla="val 17647"/>
            </a:avLst>
          </a:prstGeom>
          <a:solidFill>
            <a:srgbClr val="DFE4EC"/>
          </a:solidFill>
          <a:ln/>
        </p:spPr>
      </p:sp>
      <p:sp>
        <p:nvSpPr>
          <p:cNvPr id="89" name="Text 87"/>
          <p:cNvSpPr/>
          <p:nvPr/>
        </p:nvSpPr>
        <p:spPr>
          <a:xfrm>
            <a:off x="10314623" y="8149590"/>
            <a:ext cx="9769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3D4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575" dirty="0"/>
          </a:p>
        </p:txBody>
      </p:sp>
      <p:sp>
        <p:nvSpPr>
          <p:cNvPr id="90" name="Text 88"/>
          <p:cNvSpPr/>
          <p:nvPr/>
        </p:nvSpPr>
        <p:spPr>
          <a:xfrm>
            <a:off x="11873865" y="8111490"/>
            <a:ext cx="14067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09:41</a:t>
            </a:r>
            <a:endParaRPr lang="en-US" sz="1725" dirty="0"/>
          </a:p>
        </p:txBody>
      </p:sp>
      <p:sp>
        <p:nvSpPr>
          <p:cNvPr id="91" name="Text 89"/>
          <p:cNvSpPr/>
          <p:nvPr/>
        </p:nvSpPr>
        <p:spPr>
          <a:xfrm>
            <a:off x="13547288" y="8111490"/>
            <a:ext cx="140684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8A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telco</a:t>
            </a:r>
            <a:endParaRPr lang="en-US" sz="1725" dirty="0"/>
          </a:p>
        </p:txBody>
      </p:sp>
      <p:sp>
        <p:nvSpPr>
          <p:cNvPr id="92" name="Text 90"/>
          <p:cNvSpPr/>
          <p:nvPr/>
        </p:nvSpPr>
        <p:spPr>
          <a:xfrm>
            <a:off x="15220831" y="8111490"/>
            <a:ext cx="73735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93" name="Text 91"/>
          <p:cNvSpPr/>
          <p:nvPr/>
        </p:nvSpPr>
        <p:spPr>
          <a:xfrm>
            <a:off x="16224885" y="8111490"/>
            <a:ext cx="9048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25" dirty="0"/>
          </a:p>
        </p:txBody>
      </p:sp>
      <p:sp>
        <p:nvSpPr>
          <p:cNvPr id="94" name="Text 92"/>
          <p:cNvSpPr/>
          <p:nvPr/>
        </p:nvSpPr>
        <p:spPr>
          <a:xfrm>
            <a:off x="4320540" y="8816340"/>
            <a:ext cx="34671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1 to 3 of 23,962 recipients</a:t>
            </a:r>
            <a:endParaRPr lang="en-US" sz="1725" dirty="0"/>
          </a:p>
        </p:txBody>
      </p:sp>
      <p:sp>
        <p:nvSpPr>
          <p:cNvPr id="95" name="Text 93"/>
          <p:cNvSpPr/>
          <p:nvPr/>
        </p:nvSpPr>
        <p:spPr>
          <a:xfrm>
            <a:off x="11237952" y="8816340"/>
            <a:ext cx="659414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messages rejected by iSMS are refunded and show 0 credits</a:t>
            </a:r>
            <a:endParaRPr lang="en-US" sz="17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367878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Detail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history of one message: every attempt, the iSMS response and the credit movement.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portal.smsbroadcast.my/messages/msg_9f8730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22020" y="5501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2945130"/>
            <a:ext cx="188634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msg_9f8730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187797" y="2929890"/>
            <a:ext cx="811530" cy="350520"/>
          </a:xfrm>
          <a:prstGeom prst="roundRect">
            <a:avLst>
              <a:gd name="adj" fmla="val 16304"/>
            </a:avLst>
          </a:prstGeom>
          <a:solidFill>
            <a:srgbClr val="FDD9D3"/>
          </a:solidFill>
          <a:ln/>
        </p:spPr>
      </p:sp>
      <p:sp>
        <p:nvSpPr>
          <p:cNvPr id="28" name="Text 26"/>
          <p:cNvSpPr/>
          <p:nvPr/>
        </p:nvSpPr>
        <p:spPr>
          <a:xfrm>
            <a:off x="6321147" y="2987040"/>
            <a:ext cx="62103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4320540" y="3432810"/>
            <a:ext cx="6643688" cy="2712720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5810" y="4038600"/>
            <a:ext cx="613314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5810" y="3649980"/>
            <a:ext cx="93964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</a:t>
            </a:r>
            <a:endParaRPr lang="en-US" sz="1725" dirty="0"/>
          </a:p>
        </p:txBody>
      </p:sp>
      <p:sp>
        <p:nvSpPr>
          <p:cNvPr id="32" name="Text 30"/>
          <p:cNvSpPr/>
          <p:nvPr/>
        </p:nvSpPr>
        <p:spPr>
          <a:xfrm>
            <a:off x="9131618" y="3649980"/>
            <a:ext cx="173507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+60173344527</a:t>
            </a:r>
            <a:endParaRPr lang="en-US" sz="1725" dirty="0"/>
          </a:p>
        </p:txBody>
      </p:sp>
      <p:sp>
        <p:nvSpPr>
          <p:cNvPr id="33" name="Shape 31"/>
          <p:cNvSpPr/>
          <p:nvPr/>
        </p:nvSpPr>
        <p:spPr>
          <a:xfrm>
            <a:off x="4575810" y="4530090"/>
            <a:ext cx="613314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5810" y="4141470"/>
            <a:ext cx="1078111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/ lane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304264" y="4141470"/>
            <a:ext cx="48089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4575810" y="5021580"/>
            <a:ext cx="613314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7" name="Text 35"/>
          <p:cNvSpPr/>
          <p:nvPr/>
        </p:nvSpPr>
        <p:spPr>
          <a:xfrm>
            <a:off x="4575810" y="4632960"/>
            <a:ext cx="10066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8406289" y="4632960"/>
            <a:ext cx="25329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4575810" y="5513070"/>
            <a:ext cx="6133148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0" name="Text 38"/>
          <p:cNvSpPr/>
          <p:nvPr/>
        </p:nvSpPr>
        <p:spPr>
          <a:xfrm>
            <a:off x="4575810" y="5124450"/>
            <a:ext cx="163710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/ parts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9153406" y="5124450"/>
            <a:ext cx="171110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GSM 7-bit · 1 part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4575810" y="5615940"/>
            <a:ext cx="72318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8761572" y="5615940"/>
            <a:ext cx="214212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debited, 1 refunded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4320540" y="6297930"/>
            <a:ext cx="6643688" cy="1423988"/>
          </a:xfrm>
          <a:prstGeom prst="roundRect">
            <a:avLst>
              <a:gd name="adj" fmla="val 802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5810" y="6515100"/>
            <a:ext cx="67464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75810" y="6869430"/>
            <a:ext cx="6317142" cy="673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26"/>
              </a:lnSpc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customer, your statement for Sep 2026 is ready. View it in the app or at maybank2u.com.my. Do not share your TAC with anyone.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11192827" y="2929890"/>
            <a:ext cx="664378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 history</a:t>
            </a:r>
            <a:endParaRPr lang="en-US" sz="2250" dirty="0"/>
          </a:p>
        </p:txBody>
      </p:sp>
      <p:sp>
        <p:nvSpPr>
          <p:cNvPr id="48" name="Shape 46"/>
          <p:cNvSpPr/>
          <p:nvPr/>
        </p:nvSpPr>
        <p:spPr>
          <a:xfrm>
            <a:off x="11192827" y="3409950"/>
            <a:ext cx="6039803" cy="3893820"/>
          </a:xfrm>
          <a:prstGeom prst="roundRect">
            <a:avLst>
              <a:gd name="adj" fmla="val 293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00448" y="3417570"/>
            <a:ext cx="6024563" cy="5638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0" name="Text 48"/>
          <p:cNvSpPr/>
          <p:nvPr/>
        </p:nvSpPr>
        <p:spPr>
          <a:xfrm>
            <a:off x="11371898" y="3550920"/>
            <a:ext cx="86284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2501444" y="3550920"/>
            <a:ext cx="161603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4384179" y="3550920"/>
            <a:ext cx="2759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1200448" y="4804410"/>
            <a:ext cx="60245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4" name="Text 52"/>
          <p:cNvSpPr/>
          <p:nvPr/>
        </p:nvSpPr>
        <p:spPr>
          <a:xfrm>
            <a:off x="11371898" y="4095750"/>
            <a:ext cx="86284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2501444" y="4095750"/>
            <a:ext cx="161603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18:31:04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4384179" y="4095750"/>
            <a:ext cx="27597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error 503 — gateway busy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11200448" y="5634990"/>
            <a:ext cx="60245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8" name="Text 56"/>
          <p:cNvSpPr/>
          <p:nvPr/>
        </p:nvSpPr>
        <p:spPr>
          <a:xfrm>
            <a:off x="11371898" y="4926330"/>
            <a:ext cx="86284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2501444" y="4926330"/>
            <a:ext cx="161603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18:31:34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4384179" y="4926330"/>
            <a:ext cx="27597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error 503 — gateway busy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1200448" y="6465570"/>
            <a:ext cx="6024563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2" name="Text 60"/>
          <p:cNvSpPr/>
          <p:nvPr/>
        </p:nvSpPr>
        <p:spPr>
          <a:xfrm>
            <a:off x="11371898" y="5756910"/>
            <a:ext cx="86284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2501444" y="5756910"/>
            <a:ext cx="161603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18:33:39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4384179" y="5756910"/>
            <a:ext cx="27597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rejected — invalid subscriber</a:t>
            </a:r>
            <a:endParaRPr lang="en-US" sz="1650" dirty="0"/>
          </a:p>
        </p:txBody>
      </p:sp>
      <p:sp>
        <p:nvSpPr>
          <p:cNvPr id="65" name="Shape 63"/>
          <p:cNvSpPr/>
          <p:nvPr/>
        </p:nvSpPr>
        <p:spPr>
          <a:xfrm>
            <a:off x="11200448" y="6473190"/>
            <a:ext cx="6024563" cy="82296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66" name="Text 64"/>
          <p:cNvSpPr/>
          <p:nvPr/>
        </p:nvSpPr>
        <p:spPr>
          <a:xfrm>
            <a:off x="11371898" y="6587490"/>
            <a:ext cx="862846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2501444" y="6587490"/>
            <a:ext cx="1616035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18:33:40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4384179" y="6587490"/>
            <a:ext cx="275975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Failed · 1 credit refunded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1192827" y="7456170"/>
            <a:ext cx="2455188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29047" y="7578090"/>
            <a:ext cx="205894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 this message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70665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Messages and Resend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sends are refunded automatically. Telco-level failures can be resent as a new charged batch.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portal.smsbroadcast.my/messages?status=failed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22020" y="55016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3017520"/>
            <a:ext cx="25345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messages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2957692" y="2929890"/>
            <a:ext cx="1397198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55812" y="3032760"/>
            <a:ext cx="107715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7 days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4469190" y="2929890"/>
            <a:ext cx="1665684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67310" y="3032760"/>
            <a:ext cx="13456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campaigns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16249174" y="3032760"/>
            <a:ext cx="105965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 results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4320540" y="3638550"/>
            <a:ext cx="1291209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4" name="Text 32"/>
          <p:cNvSpPr/>
          <p:nvPr/>
        </p:nvSpPr>
        <p:spPr>
          <a:xfrm>
            <a:off x="5530096" y="3798570"/>
            <a:ext cx="248410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8311753" y="3798570"/>
            <a:ext cx="37864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2357854" y="3798570"/>
            <a:ext cx="1971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4633734" y="3798570"/>
            <a:ext cx="24842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4328160" y="482346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9" name="Shape 37"/>
          <p:cNvSpPr/>
          <p:nvPr/>
        </p:nvSpPr>
        <p:spPr>
          <a:xfrm>
            <a:off x="4518660" y="4413885"/>
            <a:ext cx="259080" cy="259080"/>
          </a:xfrm>
          <a:prstGeom prst="roundRect">
            <a:avLst>
              <a:gd name="adj" fmla="val 18382"/>
            </a:avLst>
          </a:prstGeom>
          <a:solidFill>
            <a:srgbClr val="6F5CD8"/>
          </a:solidFill>
          <a:ln w="15240">
            <a:solidFill>
              <a:srgbClr val="6F5C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0096" y="4406265"/>
            <a:ext cx="24841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+60123••••81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8311753" y="4387215"/>
            <a:ext cx="37864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Handset unreachable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2357854" y="4387215"/>
            <a:ext cx="1971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4633734" y="4387215"/>
            <a:ext cx="24842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09:41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4328160" y="53911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5" name="Shape 43"/>
          <p:cNvSpPr/>
          <p:nvPr/>
        </p:nvSpPr>
        <p:spPr>
          <a:xfrm>
            <a:off x="4518660" y="4981575"/>
            <a:ext cx="259080" cy="259080"/>
          </a:xfrm>
          <a:prstGeom prst="roundRect">
            <a:avLst>
              <a:gd name="adj" fmla="val 18382"/>
            </a:avLst>
          </a:prstGeom>
          <a:solidFill>
            <a:srgbClr val="6F5CD8"/>
          </a:solidFill>
          <a:ln w="15240">
            <a:solidFill>
              <a:srgbClr val="6F5C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0096" y="4973955"/>
            <a:ext cx="24841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+60198••••04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311753" y="4954905"/>
            <a:ext cx="37864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Handset unreachable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12357854" y="4954905"/>
            <a:ext cx="1971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4633734" y="4954905"/>
            <a:ext cx="24842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09:41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4328160" y="59588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1" name="Shape 49"/>
          <p:cNvSpPr/>
          <p:nvPr/>
        </p:nvSpPr>
        <p:spPr>
          <a:xfrm>
            <a:off x="4518660" y="5549265"/>
            <a:ext cx="259080" cy="259080"/>
          </a:xfrm>
          <a:prstGeom prst="roundRect">
            <a:avLst>
              <a:gd name="adj" fmla="val 18382"/>
            </a:avLst>
          </a:prstGeom>
          <a:ln w="15240">
            <a:solidFill>
              <a:srgbClr val="C8D0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0096" y="5541645"/>
            <a:ext cx="24841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+60173••••27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8311753" y="5522595"/>
            <a:ext cx="37864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by iSMS after 3 attempts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12357854" y="5522595"/>
            <a:ext cx="1971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refunded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14633734" y="5522595"/>
            <a:ext cx="24842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18:33</a:t>
            </a:r>
            <a:endParaRPr lang="en-US" sz="1725" dirty="0"/>
          </a:p>
        </p:txBody>
      </p:sp>
      <p:sp>
        <p:nvSpPr>
          <p:cNvPr id="56" name="Shape 54"/>
          <p:cNvSpPr/>
          <p:nvPr/>
        </p:nvSpPr>
        <p:spPr>
          <a:xfrm>
            <a:off x="4328160" y="5966460"/>
            <a:ext cx="12896850" cy="56007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7" name="Shape 55"/>
          <p:cNvSpPr/>
          <p:nvPr/>
        </p:nvSpPr>
        <p:spPr>
          <a:xfrm>
            <a:off x="4518660" y="6116955"/>
            <a:ext cx="259080" cy="259080"/>
          </a:xfrm>
          <a:prstGeom prst="roundRect">
            <a:avLst>
              <a:gd name="adj" fmla="val 18382"/>
            </a:avLst>
          </a:prstGeom>
          <a:ln w="15240">
            <a:solidFill>
              <a:srgbClr val="C8D0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30096" y="6109335"/>
            <a:ext cx="24841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+60112••••55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8311753" y="6090285"/>
            <a:ext cx="378648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not in service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12357854" y="6090285"/>
            <a:ext cx="19710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14633734" y="6090285"/>
            <a:ext cx="248423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 22:07</a:t>
            </a:r>
            <a:endParaRPr lang="en-US" sz="1725" dirty="0"/>
          </a:p>
        </p:txBody>
      </p:sp>
      <p:sp>
        <p:nvSpPr>
          <p:cNvPr id="62" name="Shape 60"/>
          <p:cNvSpPr/>
          <p:nvPr/>
        </p:nvSpPr>
        <p:spPr>
          <a:xfrm>
            <a:off x="4320540" y="6724650"/>
            <a:ext cx="12912090" cy="967740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5810" y="7044690"/>
            <a:ext cx="374072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selected · 2 credits will be charged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3396317" y="6922770"/>
            <a:ext cx="1386007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613487" y="7044690"/>
            <a:ext cx="102786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list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4896624" y="6922770"/>
            <a:ext cx="2080736" cy="571500"/>
          </a:xfrm>
          <a:prstGeom prst="roundRect">
            <a:avLst>
              <a:gd name="adj" fmla="val 13333"/>
            </a:avLst>
          </a:prstGeom>
          <a:solidFill>
            <a:srgbClr val="1C2B4A"/>
          </a:solidFill>
          <a:ln/>
        </p:spPr>
      </p:sp>
      <p:sp>
        <p:nvSpPr>
          <p:cNvPr id="67" name="Text 65"/>
          <p:cNvSpPr/>
          <p:nvPr/>
        </p:nvSpPr>
        <p:spPr>
          <a:xfrm>
            <a:off x="15144274" y="7037070"/>
            <a:ext cx="16616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 selected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4320540" y="7882890"/>
            <a:ext cx="142032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and OTP messages are never resent from the portal — the client system issues a fresh code.</a:t>
            </a:r>
            <a:endParaRPr lang="en-US" sz="17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557926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Cost Report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usage and spend by message type, exportable to CSV or PDF.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portal.smsbroadcast.my/reports/usage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Berhad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2020" y="68351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74420" y="7635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4420" y="8301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4320540" y="3017520"/>
            <a:ext cx="53304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cost — September 2026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4205467" y="2929890"/>
            <a:ext cx="1912263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3587" y="3032760"/>
            <a:ext cx="159222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Month: Sep 2026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6232029" y="2929890"/>
            <a:ext cx="1000601" cy="518160"/>
          </a:xfrm>
          <a:prstGeom prst="roundRect">
            <a:avLst>
              <a:gd name="adj" fmla="val 14706"/>
            </a:avLst>
          </a:prstGeom>
          <a:solidFill>
            <a:srgbClr val="1F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16422529" y="3025140"/>
            <a:ext cx="69580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4320540" y="3638550"/>
            <a:ext cx="12912090" cy="2964180"/>
          </a:xfrm>
          <a:prstGeom prst="roundRect">
            <a:avLst>
              <a:gd name="adj" fmla="val 3856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37710" y="3798570"/>
            <a:ext cx="283917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7701082" y="3798570"/>
            <a:ext cx="20903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134362" y="3798570"/>
            <a:ext cx="20904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2567762" y="3798570"/>
            <a:ext cx="20904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5001161" y="3798570"/>
            <a:ext cx="20903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725" dirty="0"/>
          </a:p>
        </p:txBody>
      </p:sp>
      <p:sp>
        <p:nvSpPr>
          <p:cNvPr id="38" name="Shape 36"/>
          <p:cNvSpPr/>
          <p:nvPr/>
        </p:nvSpPr>
        <p:spPr>
          <a:xfrm>
            <a:off x="4328160" y="48577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9" name="Text 37"/>
          <p:cNvSpPr/>
          <p:nvPr/>
        </p:nvSpPr>
        <p:spPr>
          <a:xfrm>
            <a:off x="4537710" y="4396740"/>
            <a:ext cx="283917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 / OTP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01082" y="439674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108,220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134362" y="439674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108,220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2567762" y="439674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98.1%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001161" y="439674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RM10,281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328160" y="545973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5" name="Text 43"/>
          <p:cNvSpPr/>
          <p:nvPr/>
        </p:nvSpPr>
        <p:spPr>
          <a:xfrm>
            <a:off x="4537710" y="4998720"/>
            <a:ext cx="283917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701082" y="499872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9,410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134362" y="499872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13,880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567762" y="499872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5001161" y="499872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RM1,319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328160" y="606171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1" name="Text 49"/>
          <p:cNvSpPr/>
          <p:nvPr/>
        </p:nvSpPr>
        <p:spPr>
          <a:xfrm>
            <a:off x="4537710" y="5600700"/>
            <a:ext cx="283917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campaigns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701082" y="560070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134362" y="560070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567762" y="5600700"/>
            <a:ext cx="2090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5001161" y="5600700"/>
            <a:ext cx="2090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RM2,280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4328160" y="6069330"/>
            <a:ext cx="12896850" cy="52578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7" name="Text 55"/>
          <p:cNvSpPr/>
          <p:nvPr/>
        </p:nvSpPr>
        <p:spPr>
          <a:xfrm>
            <a:off x="4537710" y="6202680"/>
            <a:ext cx="28391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7701082" y="6202680"/>
            <a:ext cx="209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141,630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134362" y="6202680"/>
            <a:ext cx="209049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146,100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12567762" y="6202680"/>
            <a:ext cx="209049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97.2%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5001161" y="6202680"/>
            <a:ext cx="209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RM13,880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320540" y="6793230"/>
            <a:ext cx="7420928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5810" y="7010400"/>
            <a:ext cx="760142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4575810" y="8539043"/>
            <a:ext cx="622459" cy="742117"/>
          </a:xfrm>
          <a:custGeom>
            <a:avLst/>
            <a:gdLst/>
            <a:ahLst/>
            <a:cxnLst/>
            <a:rect l="l" t="t" r="r" b="b"/>
            <a:pathLst>
              <a:path w="622459" h="742117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742117"/>
                </a:lnTo>
                <a:lnTo>
                  <a:pt x="0" y="742117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65" name="Shape 63"/>
          <p:cNvSpPr/>
          <p:nvPr/>
        </p:nvSpPr>
        <p:spPr>
          <a:xfrm>
            <a:off x="5274469" y="8316396"/>
            <a:ext cx="622459" cy="964763"/>
          </a:xfrm>
          <a:custGeom>
            <a:avLst/>
            <a:gdLst/>
            <a:ahLst/>
            <a:cxnLst/>
            <a:rect l="l" t="t" r="r" b="b"/>
            <a:pathLst>
              <a:path w="622459" h="964763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964763"/>
                </a:lnTo>
                <a:lnTo>
                  <a:pt x="0" y="964763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66" name="Shape 64"/>
          <p:cNvSpPr/>
          <p:nvPr/>
        </p:nvSpPr>
        <p:spPr>
          <a:xfrm>
            <a:off x="5973128" y="8427720"/>
            <a:ext cx="622459" cy="853440"/>
          </a:xfrm>
          <a:custGeom>
            <a:avLst/>
            <a:gdLst/>
            <a:ahLst/>
            <a:cxnLst/>
            <a:rect l="l" t="t" r="r" b="b"/>
            <a:pathLst>
              <a:path w="622459" h="853440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853440"/>
                </a:lnTo>
                <a:lnTo>
                  <a:pt x="0" y="853440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67" name="Shape 65"/>
          <p:cNvSpPr/>
          <p:nvPr/>
        </p:nvSpPr>
        <p:spPr>
          <a:xfrm>
            <a:off x="6671786" y="7833956"/>
            <a:ext cx="622459" cy="1447205"/>
          </a:xfrm>
          <a:custGeom>
            <a:avLst/>
            <a:gdLst/>
            <a:ahLst/>
            <a:cxnLst/>
            <a:rect l="l" t="t" r="r" b="b"/>
            <a:pathLst>
              <a:path w="622459" h="1447205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447205"/>
                </a:lnTo>
                <a:lnTo>
                  <a:pt x="0" y="1447205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68" name="Shape 66"/>
          <p:cNvSpPr/>
          <p:nvPr/>
        </p:nvSpPr>
        <p:spPr>
          <a:xfrm>
            <a:off x="7370445" y="8093750"/>
            <a:ext cx="622459" cy="1187410"/>
          </a:xfrm>
          <a:custGeom>
            <a:avLst/>
            <a:gdLst/>
            <a:ahLst/>
            <a:cxnLst/>
            <a:rect l="l" t="t" r="r" b="b"/>
            <a:pathLst>
              <a:path w="622459" h="1187410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187410"/>
                </a:lnTo>
                <a:lnTo>
                  <a:pt x="0" y="1187410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69" name="Shape 67"/>
          <p:cNvSpPr/>
          <p:nvPr/>
        </p:nvSpPr>
        <p:spPr>
          <a:xfrm>
            <a:off x="8069104" y="7648456"/>
            <a:ext cx="622459" cy="1632704"/>
          </a:xfrm>
          <a:custGeom>
            <a:avLst/>
            <a:gdLst/>
            <a:ahLst/>
            <a:cxnLst/>
            <a:rect l="l" t="t" r="r" b="b"/>
            <a:pathLst>
              <a:path w="622459" h="1632704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632704"/>
                </a:lnTo>
                <a:lnTo>
                  <a:pt x="0" y="1632704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6F5CD8"/>
          </a:solidFill>
          <a:ln/>
        </p:spPr>
      </p:sp>
      <p:sp>
        <p:nvSpPr>
          <p:cNvPr id="70" name="Shape 68"/>
          <p:cNvSpPr/>
          <p:nvPr/>
        </p:nvSpPr>
        <p:spPr>
          <a:xfrm>
            <a:off x="8767763" y="7499985"/>
            <a:ext cx="622459" cy="1781175"/>
          </a:xfrm>
          <a:custGeom>
            <a:avLst/>
            <a:gdLst/>
            <a:ahLst/>
            <a:cxnLst/>
            <a:rect l="l" t="t" r="r" b="b"/>
            <a:pathLst>
              <a:path w="622459" h="1781175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781175"/>
                </a:lnTo>
                <a:lnTo>
                  <a:pt x="0" y="1781175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6F5CD8"/>
          </a:solidFill>
          <a:ln/>
        </p:spPr>
      </p:sp>
      <p:sp>
        <p:nvSpPr>
          <p:cNvPr id="71" name="Shape 69"/>
          <p:cNvSpPr/>
          <p:nvPr/>
        </p:nvSpPr>
        <p:spPr>
          <a:xfrm>
            <a:off x="9466422" y="8205073"/>
            <a:ext cx="622459" cy="1076087"/>
          </a:xfrm>
          <a:custGeom>
            <a:avLst/>
            <a:gdLst/>
            <a:ahLst/>
            <a:cxnLst/>
            <a:rect l="l" t="t" r="r" b="b"/>
            <a:pathLst>
              <a:path w="622459" h="1076087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076087"/>
                </a:lnTo>
                <a:lnTo>
                  <a:pt x="0" y="1076087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65081" y="8464868"/>
            <a:ext cx="622459" cy="816293"/>
          </a:xfrm>
          <a:custGeom>
            <a:avLst/>
            <a:gdLst/>
            <a:ahLst/>
            <a:cxnLst/>
            <a:rect l="l" t="t" r="r" b="b"/>
            <a:pathLst>
              <a:path w="622459" h="816293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816293"/>
                </a:lnTo>
                <a:lnTo>
                  <a:pt x="0" y="816293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D8D3F6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63739" y="7982426"/>
            <a:ext cx="622459" cy="1298734"/>
          </a:xfrm>
          <a:custGeom>
            <a:avLst/>
            <a:gdLst/>
            <a:ahLst/>
            <a:cxnLst/>
            <a:rect l="l" t="t" r="r" b="b"/>
            <a:pathLst>
              <a:path w="622459" h="1298734">
                <a:moveTo>
                  <a:pt x="47625" y="0"/>
                </a:moveTo>
                <a:lnTo>
                  <a:pt x="574834" y="0"/>
                </a:lnTo>
                <a:arcTo hR="47625" wR="47625" stAng="16200000" swAng="5400000"/>
                <a:lnTo>
                  <a:pt x="622459" y="1298734"/>
                </a:lnTo>
                <a:lnTo>
                  <a:pt x="0" y="1298734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A99BF0"/>
          </a:solidFill>
          <a:ln/>
        </p:spPr>
      </p:sp>
      <p:sp>
        <p:nvSpPr>
          <p:cNvPr id="74" name="Shape 72"/>
          <p:cNvSpPr/>
          <p:nvPr/>
        </p:nvSpPr>
        <p:spPr>
          <a:xfrm>
            <a:off x="11931968" y="6793230"/>
            <a:ext cx="5300663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187238" y="7010400"/>
            <a:ext cx="526913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campaign</a:t>
            </a:r>
            <a:endParaRPr lang="en-US" sz="1950" dirty="0"/>
          </a:p>
        </p:txBody>
      </p:sp>
      <p:sp>
        <p:nvSpPr>
          <p:cNvPr id="76" name="Shape 74"/>
          <p:cNvSpPr/>
          <p:nvPr/>
        </p:nvSpPr>
        <p:spPr>
          <a:xfrm>
            <a:off x="12187238" y="7833360"/>
            <a:ext cx="479012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77" name="Text 75"/>
          <p:cNvSpPr/>
          <p:nvPr/>
        </p:nvSpPr>
        <p:spPr>
          <a:xfrm>
            <a:off x="12187238" y="7425690"/>
            <a:ext cx="25329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</a:t>
            </a:r>
            <a:endParaRPr lang="en-US" sz="1725" dirty="0"/>
          </a:p>
        </p:txBody>
      </p:sp>
      <p:sp>
        <p:nvSpPr>
          <p:cNvPr id="78" name="Text 76"/>
          <p:cNvSpPr/>
          <p:nvPr/>
        </p:nvSpPr>
        <p:spPr>
          <a:xfrm>
            <a:off x="16174641" y="7425690"/>
            <a:ext cx="87891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RM2,276</a:t>
            </a:r>
            <a:endParaRPr lang="en-US" sz="1725" dirty="0"/>
          </a:p>
        </p:txBody>
      </p:sp>
      <p:sp>
        <p:nvSpPr>
          <p:cNvPr id="79" name="Shape 77"/>
          <p:cNvSpPr/>
          <p:nvPr/>
        </p:nvSpPr>
        <p:spPr>
          <a:xfrm>
            <a:off x="12187238" y="8382000"/>
            <a:ext cx="4790122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80" name="Text 78"/>
          <p:cNvSpPr/>
          <p:nvPr/>
        </p:nvSpPr>
        <p:spPr>
          <a:xfrm>
            <a:off x="12187238" y="7974330"/>
            <a:ext cx="200107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renewal notice</a:t>
            </a:r>
            <a:endParaRPr lang="en-US" sz="1725" dirty="0"/>
          </a:p>
        </p:txBody>
      </p:sp>
      <p:sp>
        <p:nvSpPr>
          <p:cNvPr id="81" name="Text 79"/>
          <p:cNvSpPr/>
          <p:nvPr/>
        </p:nvSpPr>
        <p:spPr>
          <a:xfrm>
            <a:off x="16174641" y="7974330"/>
            <a:ext cx="87891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RM1,140</a:t>
            </a:r>
            <a:endParaRPr lang="en-US" sz="1725" dirty="0"/>
          </a:p>
        </p:txBody>
      </p:sp>
      <p:sp>
        <p:nvSpPr>
          <p:cNvPr id="82" name="Text 80"/>
          <p:cNvSpPr/>
          <p:nvPr/>
        </p:nvSpPr>
        <p:spPr>
          <a:xfrm>
            <a:off x="12187238" y="8522970"/>
            <a:ext cx="246640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traffic (no campaign)</a:t>
            </a:r>
            <a:endParaRPr lang="en-US" sz="1725" dirty="0"/>
          </a:p>
        </p:txBody>
      </p:sp>
      <p:sp>
        <p:nvSpPr>
          <p:cNvPr id="83" name="Text 81"/>
          <p:cNvSpPr/>
          <p:nvPr/>
        </p:nvSpPr>
        <p:spPr>
          <a:xfrm>
            <a:off x="16062246" y="8522970"/>
            <a:ext cx="99131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RM10,464</a:t>
            </a:r>
            <a:endParaRPr lang="en-US" sz="17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474146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Reconciliation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only. Daily comparison of our delivery records against the iSMS report.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portal.smsbroadcast.my/admin/reconciliation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2020" y="616839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1" name="Text 19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3017520"/>
            <a:ext cx="45105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— 12 Sep 2026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6148209" y="2929890"/>
            <a:ext cx="1084421" cy="518160"/>
          </a:xfrm>
          <a:prstGeom prst="roundRect">
            <a:avLst>
              <a:gd name="adj" fmla="val 14706"/>
            </a:avLst>
          </a:prstGeom>
          <a:solidFill>
            <a:srgbClr val="1C2B4A"/>
          </a:solidFill>
          <a:ln/>
        </p:spPr>
      </p:sp>
      <p:sp>
        <p:nvSpPr>
          <p:cNvPr id="26" name="Text 24"/>
          <p:cNvSpPr/>
          <p:nvPr/>
        </p:nvSpPr>
        <p:spPr>
          <a:xfrm>
            <a:off x="16357759" y="3025140"/>
            <a:ext cx="74152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320540" y="363855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6760" y="383667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records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56760" y="419100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141,630</a:t>
            </a:r>
            <a:endParaRPr lang="en-US" sz="2700" dirty="0"/>
          </a:p>
        </p:txBody>
      </p:sp>
      <p:sp>
        <p:nvSpPr>
          <p:cNvPr id="30" name="Shape 28"/>
          <p:cNvSpPr/>
          <p:nvPr/>
        </p:nvSpPr>
        <p:spPr>
          <a:xfrm>
            <a:off x="7591425" y="363855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645" y="383667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report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27645" y="419100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141,604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0862310" y="363855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98531" y="383667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098531" y="419100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2700" dirty="0"/>
          </a:p>
        </p:txBody>
      </p:sp>
      <p:sp>
        <p:nvSpPr>
          <p:cNvPr id="36" name="Shape 34"/>
          <p:cNvSpPr/>
          <p:nvPr/>
        </p:nvSpPr>
        <p:spPr>
          <a:xfrm>
            <a:off x="14133195" y="3638550"/>
            <a:ext cx="3099435" cy="1110615"/>
          </a:xfrm>
          <a:prstGeom prst="roundRect">
            <a:avLst>
              <a:gd name="adj" fmla="val 10292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369415" y="3836670"/>
            <a:ext cx="28896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Discrepancies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4369415" y="4191000"/>
            <a:ext cx="2889695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5"/>
              </a:lnSpc>
              <a:buNone/>
            </a:pPr>
            <a:r>
              <a:rPr lang="en-US" sz="2700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700" dirty="0"/>
          </a:p>
        </p:txBody>
      </p:sp>
      <p:sp>
        <p:nvSpPr>
          <p:cNvPr id="39" name="Shape 37"/>
          <p:cNvSpPr/>
          <p:nvPr/>
        </p:nvSpPr>
        <p:spPr>
          <a:xfrm>
            <a:off x="4320540" y="4939665"/>
            <a:ext cx="12912090" cy="2327910"/>
          </a:xfrm>
          <a:prstGeom prst="roundRect">
            <a:avLst>
              <a:gd name="adj" fmla="val 491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28160" y="4947285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18660" y="5099685"/>
            <a:ext cx="2324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ID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7145774" y="5099685"/>
            <a:ext cx="2324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9772888" y="5099685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status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2161164" y="5099685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status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4549438" y="5099685"/>
            <a:ext cx="257105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725" dirty="0"/>
          </a:p>
        </p:txBody>
      </p:sp>
      <p:sp>
        <p:nvSpPr>
          <p:cNvPr id="46" name="Shape 44"/>
          <p:cNvSpPr/>
          <p:nvPr/>
        </p:nvSpPr>
        <p:spPr>
          <a:xfrm>
            <a:off x="4328160" y="612457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7" name="Text 45"/>
          <p:cNvSpPr/>
          <p:nvPr/>
        </p:nvSpPr>
        <p:spPr>
          <a:xfrm>
            <a:off x="4518660" y="5707380"/>
            <a:ext cx="23249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msg_9f8730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7145774" y="5688330"/>
            <a:ext cx="2324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9772888" y="568833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12161164" y="568833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14549438" y="5678805"/>
            <a:ext cx="1407081" cy="323850"/>
          </a:xfrm>
          <a:prstGeom prst="roundRect">
            <a:avLst>
              <a:gd name="adj" fmla="val 17647"/>
            </a:avLst>
          </a:prstGeom>
          <a:solidFill>
            <a:srgbClr val="FFE3A3"/>
          </a:solidFill>
          <a:ln/>
        </p:spPr>
      </p:sp>
      <p:sp>
        <p:nvSpPr>
          <p:cNvPr id="52" name="Text 50"/>
          <p:cNvSpPr/>
          <p:nvPr/>
        </p:nvSpPr>
        <p:spPr>
          <a:xfrm>
            <a:off x="14663738" y="5726430"/>
            <a:ext cx="125468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4328160" y="6692265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4" name="Text 52"/>
          <p:cNvSpPr/>
          <p:nvPr/>
        </p:nvSpPr>
        <p:spPr>
          <a:xfrm>
            <a:off x="4518660" y="6275070"/>
            <a:ext cx="23249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msg_9f8641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145774" y="6256020"/>
            <a:ext cx="2324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 Prima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9772888" y="625602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725" dirty="0"/>
          </a:p>
        </p:txBody>
      </p:sp>
      <p:sp>
        <p:nvSpPr>
          <p:cNvPr id="57" name="Text 55"/>
          <p:cNvSpPr/>
          <p:nvPr/>
        </p:nvSpPr>
        <p:spPr>
          <a:xfrm>
            <a:off x="12161164" y="625602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</a:t>
            </a:r>
            <a:endParaRPr lang="en-US" sz="1725" dirty="0"/>
          </a:p>
        </p:txBody>
      </p:sp>
      <p:sp>
        <p:nvSpPr>
          <p:cNvPr id="58" name="Shape 56"/>
          <p:cNvSpPr/>
          <p:nvPr/>
        </p:nvSpPr>
        <p:spPr>
          <a:xfrm>
            <a:off x="14549438" y="6246495"/>
            <a:ext cx="1684853" cy="323850"/>
          </a:xfrm>
          <a:prstGeom prst="roundRect">
            <a:avLst>
              <a:gd name="adj" fmla="val 17647"/>
            </a:avLst>
          </a:prstGeom>
          <a:solidFill>
            <a:srgbClr val="FDD9D3"/>
          </a:solidFill>
          <a:ln/>
        </p:spPr>
      </p:sp>
      <p:sp>
        <p:nvSpPr>
          <p:cNvPr id="59" name="Text 57"/>
          <p:cNvSpPr/>
          <p:nvPr/>
        </p:nvSpPr>
        <p:spPr>
          <a:xfrm>
            <a:off x="14663738" y="6294120"/>
            <a:ext cx="15324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A3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with iSMS</a:t>
            </a:r>
            <a:endParaRPr lang="en-US" sz="1575" dirty="0"/>
          </a:p>
        </p:txBody>
      </p:sp>
      <p:sp>
        <p:nvSpPr>
          <p:cNvPr id="60" name="Shape 58"/>
          <p:cNvSpPr/>
          <p:nvPr/>
        </p:nvSpPr>
        <p:spPr>
          <a:xfrm>
            <a:off x="4328160" y="6699885"/>
            <a:ext cx="12896850" cy="56007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61" name="Text 59"/>
          <p:cNvSpPr/>
          <p:nvPr/>
        </p:nvSpPr>
        <p:spPr>
          <a:xfrm>
            <a:off x="4518660" y="6842760"/>
            <a:ext cx="232492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C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msg_9f85c2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7145774" y="6823710"/>
            <a:ext cx="232492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Koperasi Sejahtera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9772888" y="682371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12161164" y="6823710"/>
            <a:ext cx="208347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725" dirty="0"/>
          </a:p>
        </p:txBody>
      </p:sp>
      <p:sp>
        <p:nvSpPr>
          <p:cNvPr id="65" name="Shape 63"/>
          <p:cNvSpPr/>
          <p:nvPr/>
        </p:nvSpPr>
        <p:spPr>
          <a:xfrm>
            <a:off x="14549438" y="6814185"/>
            <a:ext cx="1607463" cy="323850"/>
          </a:xfrm>
          <a:prstGeom prst="roundRect">
            <a:avLst>
              <a:gd name="adj" fmla="val 17647"/>
            </a:avLst>
          </a:prstGeom>
          <a:solidFill>
            <a:srgbClr val="B9F5D8"/>
          </a:solidFill>
          <a:ln/>
        </p:spPr>
      </p:sp>
      <p:sp>
        <p:nvSpPr>
          <p:cNvPr id="66" name="Text 64"/>
          <p:cNvSpPr/>
          <p:nvPr/>
        </p:nvSpPr>
        <p:spPr>
          <a:xfrm>
            <a:off x="14663738" y="6861810"/>
            <a:ext cx="14550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E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refunded</a:t>
            </a:r>
            <a:endParaRPr lang="en-US" sz="1575" dirty="0"/>
          </a:p>
        </p:txBody>
      </p:sp>
      <p:sp>
        <p:nvSpPr>
          <p:cNvPr id="67" name="Text 65"/>
          <p:cNvSpPr/>
          <p:nvPr/>
        </p:nvSpPr>
        <p:spPr>
          <a:xfrm>
            <a:off x="4320540" y="7458075"/>
            <a:ext cx="142032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nightly. Clients see the outcome in their ledger, not this screen.</a:t>
            </a:r>
            <a:endParaRPr lang="en-US" sz="17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822960"/>
            <a:ext cx="18501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91646" y="571500"/>
            <a:ext cx="225331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39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52550"/>
            <a:ext cx="18440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what, and when: approvals, key rotation, role changes, campaign launches.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62000" y="1943100"/>
            <a:ext cx="16764000" cy="7810500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  <a:effectLst>
            <a:outerShdw sx="100000" sy="100000" kx="0" ky="0" algn="bl" rotWithShape="0" blurRad="571500" dist="228600" dir="54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9620" y="1950720"/>
            <a:ext cx="16748760" cy="73152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2674620"/>
            <a:ext cx="16748760" cy="9525"/>
          </a:xfrm>
          <a:prstGeom prst="rect">
            <a:avLst/>
          </a:prstGeom>
          <a:solidFill>
            <a:srgbClr val="DFE4EC"/>
          </a:solidFill>
          <a:ln/>
        </p:spPr>
      </p:sp>
      <p:sp>
        <p:nvSpPr>
          <p:cNvPr id="8" name="Shape 6"/>
          <p:cNvSpPr/>
          <p:nvPr/>
        </p:nvSpPr>
        <p:spPr>
          <a:xfrm>
            <a:off x="998220" y="2245995"/>
            <a:ext cx="133350" cy="13335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26820" y="2245995"/>
            <a:ext cx="133350" cy="13335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55420" y="2245995"/>
            <a:ext cx="133350" cy="13335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760220" y="2084070"/>
            <a:ext cx="69113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7390" y="2167890"/>
            <a:ext cx="668434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portal.smsbroadcast.my/admin/audit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769620" y="2682240"/>
            <a:ext cx="3265170" cy="70637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7170" y="2682240"/>
            <a:ext cx="9525" cy="7063740"/>
          </a:xfrm>
          <a:prstGeom prst="rect">
            <a:avLst/>
          </a:prstGeom>
          <a:solidFill>
            <a:srgbClr val="E3E7ED"/>
          </a:solidFill>
          <a:ln/>
        </p:spPr>
      </p:sp>
      <p:sp>
        <p:nvSpPr>
          <p:cNvPr id="15" name="Text 13"/>
          <p:cNvSpPr/>
          <p:nvPr/>
        </p:nvSpPr>
        <p:spPr>
          <a:xfrm>
            <a:off x="1055370" y="2967990"/>
            <a:ext cx="27746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Broadcast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4420" y="3634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74420" y="4301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approvals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4420" y="49682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074420" y="56349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74420" y="630174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922020" y="6835140"/>
            <a:ext cx="2952750" cy="609600"/>
          </a:xfrm>
          <a:prstGeom prst="roundRect">
            <a:avLst>
              <a:gd name="adj" fmla="val 15625"/>
            </a:avLst>
          </a:prstGeom>
          <a:solidFill>
            <a:srgbClr val="6F5CD8"/>
          </a:solidFill>
          <a:ln/>
        </p:spPr>
      </p:sp>
      <p:sp>
        <p:nvSpPr>
          <p:cNvPr id="22" name="Text 20"/>
          <p:cNvSpPr/>
          <p:nvPr/>
        </p:nvSpPr>
        <p:spPr>
          <a:xfrm>
            <a:off x="1074420" y="6968490"/>
            <a:ext cx="2736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4034790" y="2682240"/>
            <a:ext cx="13483590" cy="70637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40" y="3017520"/>
            <a:ext cx="12624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393222" y="2929890"/>
            <a:ext cx="1272778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591342" y="3032760"/>
            <a:ext cx="95273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14780300" y="2929890"/>
            <a:ext cx="1337429" cy="51816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7620">
            <a:solidFill>
              <a:srgbClr val="DF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78420" y="3032760"/>
            <a:ext cx="101738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actions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16232029" y="2929890"/>
            <a:ext cx="1000601" cy="518160"/>
          </a:xfrm>
          <a:prstGeom prst="roundRect">
            <a:avLst>
              <a:gd name="adj" fmla="val 14706"/>
            </a:avLst>
          </a:prstGeom>
          <a:solidFill>
            <a:srgbClr val="1F7A4D"/>
          </a:solidFill>
          <a:ln/>
        </p:spPr>
      </p:sp>
      <p:sp>
        <p:nvSpPr>
          <p:cNvPr id="30" name="Text 28"/>
          <p:cNvSpPr/>
          <p:nvPr/>
        </p:nvSpPr>
        <p:spPr>
          <a:xfrm>
            <a:off x="16422529" y="3025140"/>
            <a:ext cx="69580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4320540" y="3638550"/>
            <a:ext cx="12912090" cy="3463290"/>
          </a:xfrm>
          <a:prstGeom prst="roundRect">
            <a:avLst>
              <a:gd name="adj" fmla="val 330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28160" y="3646170"/>
            <a:ext cx="12896850" cy="6172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4537710" y="3798570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7214354" y="3798570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9891117" y="3798570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2567762" y="3798570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4328160" y="482346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4537710" y="438721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09:44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7214354" y="4387215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admin.faridah</a:t>
            </a:r>
            <a:endParaRPr lang="en-US" sz="1725" dirty="0"/>
          </a:p>
        </p:txBody>
      </p:sp>
      <p:sp>
        <p:nvSpPr>
          <p:cNvPr id="40" name="Text 38"/>
          <p:cNvSpPr/>
          <p:nvPr/>
        </p:nvSpPr>
        <p:spPr>
          <a:xfrm>
            <a:off x="9891117" y="438721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approved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12567762" y="4387215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Maybank · TOP-2026-0418 · +100,000 credits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4328160" y="539115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3" name="Text 41"/>
          <p:cNvSpPr/>
          <p:nvPr/>
        </p:nvSpPr>
        <p:spPr>
          <a:xfrm>
            <a:off x="4537710" y="495490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Sep 09:41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7214354" y="4954905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hafiz.aziz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9891117" y="495490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launched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12567762" y="4954905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Raya statement reminder · 23,962 recipients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4328160" y="595884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8" name="Text 46"/>
          <p:cNvSpPr/>
          <p:nvPr/>
        </p:nvSpPr>
        <p:spPr>
          <a:xfrm>
            <a:off x="4537710" y="552259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16:02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7214354" y="5522595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siti.rahman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9891117" y="552259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generated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12567762" y="5522595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key_live_8f2a•••• · IP 203.115.4.0/24</a:t>
            </a:r>
            <a:endParaRPr lang="en-US" sz="1725" dirty="0"/>
          </a:p>
        </p:txBody>
      </p:sp>
      <p:sp>
        <p:nvSpPr>
          <p:cNvPr id="52" name="Shape 50"/>
          <p:cNvSpPr/>
          <p:nvPr/>
        </p:nvSpPr>
        <p:spPr>
          <a:xfrm>
            <a:off x="4328160" y="6526530"/>
            <a:ext cx="12896850" cy="9525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3" name="Text 51"/>
          <p:cNvSpPr/>
          <p:nvPr/>
        </p:nvSpPr>
        <p:spPr>
          <a:xfrm>
            <a:off x="4537710" y="609028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Sep 15:38</a:t>
            </a:r>
            <a:endParaRPr lang="en-US" sz="1725" dirty="0"/>
          </a:p>
        </p:txBody>
      </p:sp>
      <p:sp>
        <p:nvSpPr>
          <p:cNvPr id="54" name="Text 52"/>
          <p:cNvSpPr/>
          <p:nvPr/>
        </p:nvSpPr>
        <p:spPr>
          <a:xfrm>
            <a:off x="7214354" y="6090285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siti.rahman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9891117" y="609028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changed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12567762" y="6090285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lim.wei · Campaign officer to Reports only</a:t>
            </a:r>
            <a:endParaRPr lang="en-US" sz="1725" dirty="0"/>
          </a:p>
        </p:txBody>
      </p:sp>
      <p:sp>
        <p:nvSpPr>
          <p:cNvPr id="57" name="Shape 55"/>
          <p:cNvSpPr/>
          <p:nvPr/>
        </p:nvSpPr>
        <p:spPr>
          <a:xfrm>
            <a:off x="4328160" y="6534150"/>
            <a:ext cx="12896850" cy="560070"/>
          </a:xfrm>
          <a:prstGeom prst="rect">
            <a:avLst/>
          </a:prstGeom>
          <a:solidFill>
            <a:srgbClr val="FAF9FF"/>
          </a:solidFill>
          <a:ln/>
        </p:spPr>
      </p:sp>
      <p:sp>
        <p:nvSpPr>
          <p:cNvPr id="58" name="Text 56"/>
          <p:cNvSpPr/>
          <p:nvPr/>
        </p:nvSpPr>
        <p:spPr>
          <a:xfrm>
            <a:off x="4537710" y="665797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Sep 22:15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7214354" y="6657975"/>
            <a:ext cx="233796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725" dirty="0"/>
          </a:p>
        </p:txBody>
      </p:sp>
      <p:sp>
        <p:nvSpPr>
          <p:cNvPr id="60" name="Text 58"/>
          <p:cNvSpPr/>
          <p:nvPr/>
        </p:nvSpPr>
        <p:spPr>
          <a:xfrm>
            <a:off x="9891117" y="6657975"/>
            <a:ext cx="233784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refunded</a:t>
            </a:r>
            <a:endParaRPr lang="en-US" sz="1725" dirty="0"/>
          </a:p>
        </p:txBody>
      </p:sp>
      <p:sp>
        <p:nvSpPr>
          <p:cNvPr id="61" name="Text 59"/>
          <p:cNvSpPr/>
          <p:nvPr/>
        </p:nvSpPr>
        <p:spPr>
          <a:xfrm>
            <a:off x="12567762" y="6657975"/>
            <a:ext cx="459358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messages rejected by iSMS after 3 attempts</a:t>
            </a:r>
            <a:endParaRPr lang="en-US" sz="1725" dirty="0"/>
          </a:p>
        </p:txBody>
      </p:sp>
      <p:sp>
        <p:nvSpPr>
          <p:cNvPr id="62" name="Text 60"/>
          <p:cNvSpPr/>
          <p:nvPr/>
        </p:nvSpPr>
        <p:spPr>
          <a:xfrm>
            <a:off x="4320540" y="7292340"/>
            <a:ext cx="14203299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Immutable. Client admins see their own organisation's entries; internal admins see all.</a:t>
            </a:r>
            <a:endParaRPr lang="en-US" sz="17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96" kern="0" dirty="0">
                <a:solidFill>
                  <a:srgbClr val="6F5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03960"/>
            <a:ext cx="1802130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spc="-43" kern="0" dirty="0">
                <a:solidFill>
                  <a:srgbClr val="1C2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and Out of the Proof of Concept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17420"/>
            <a:ext cx="8759428" cy="7498080"/>
          </a:xfrm>
          <a:prstGeom prst="roundRect">
            <a:avLst>
              <a:gd name="adj" fmla="val 2033"/>
            </a:avLst>
          </a:prstGeom>
          <a:solidFill>
            <a:srgbClr val="1C2B4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79370"/>
            <a:ext cx="879717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A9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29 SCREENS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02895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475089" y="302895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dashboard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33500" y="353568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list and registration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5475089" y="353568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composer, merge fields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333500" y="404241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ID and API keys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475089" y="404241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33500" y="454914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roles and add user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5475089" y="454914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launch and progress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333500" y="505587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475089" y="505587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monitor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333500" y="556260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 request and approval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5475089" y="556260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log and detail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333500" y="606933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Wallet, ledger and invoices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475089" y="606933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and resend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33500" y="657606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delivery reports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5475089" y="6576060"/>
            <a:ext cx="424142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D7E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and audit log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10035778" y="2217420"/>
            <a:ext cx="7299722" cy="1788795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7249" y="2529840"/>
            <a:ext cx="73004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— LATER PHASES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67249" y="2922270"/>
            <a:ext cx="683588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checkout, automated top-up, self-service client sign-up, deeper analytics.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035778" y="4234815"/>
            <a:ext cx="7299722" cy="1788795"/>
          </a:xfrm>
          <a:prstGeom prst="roundRect">
            <a:avLst>
              <a:gd name="adj" fmla="val 8520"/>
            </a:avLst>
          </a:prstGeom>
          <a:solidFill>
            <a:srgbClr val="FFFFFF"/>
          </a:solidFill>
          <a:ln w="7620">
            <a:solidFill>
              <a:srgbClr val="E3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67249" y="4547235"/>
            <a:ext cx="73004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367249" y="4939665"/>
            <a:ext cx="683588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025" dirty="0">
                <a:solidFill>
                  <a:srgbClr val="546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iSMS rate limits, data retention policy, final role list, cloud region.</a:t>
            </a:r>
            <a:endParaRPr lang="en-US" sz="20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2026-09-13T04:04:31Z</dcterms:created>
  <dcterms:modified xsi:type="dcterms:W3CDTF">2026-09-13T04:04:31Z</dcterms:modified>
</cp:coreProperties>
</file>